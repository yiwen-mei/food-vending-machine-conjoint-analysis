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y="5143500" cx="9144000"/>
  <p:notesSz cx="6858000" cy="9144000"/>
  <p:embeddedFontLst>
    <p:embeddedFont>
      <p:font typeface="Yeseva One"/>
      <p:regular r:id="rId30"/>
    </p:embeddedFont>
    <p:embeddedFont>
      <p:font typeface="Karla"/>
      <p:regular r:id="rId31"/>
      <p:bold r:id="rId32"/>
      <p:italic r:id="rId33"/>
      <p:boldItalic r:id="rId3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9AA0A6"/>
          </p15:clr>
        </p15:guide>
        <p15:guide id="2" pos="2880">
          <p15:clr>
            <a:srgbClr val="9AA0A6"/>
          </p15:clr>
        </p15:guide>
      </p15:sldGuideLst>
    </p:ext>
    <p:ext uri="GoogleSlidesCustomDataVersion2">
      <go:slidesCustomData xmlns:go="http://customooxmlschemas.google.com/" r:id="rId35" roundtripDataSignature="AMtx7mjXWGwyH6vT4zCZK5BI4oiHDl0A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BB79891-C1E0-444F-8AAC-7BFD1D1877D0}">
  <a:tblStyle styleId="{9BB79891-C1E0-444F-8AAC-7BFD1D1877D0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Karla-regular.fntdata"/><Relationship Id="rId30" Type="http://schemas.openxmlformats.org/officeDocument/2006/relationships/font" Target="fonts/YesevaOne-regular.fntdata"/><Relationship Id="rId11" Type="http://schemas.openxmlformats.org/officeDocument/2006/relationships/slide" Target="slides/slide5.xml"/><Relationship Id="rId33" Type="http://schemas.openxmlformats.org/officeDocument/2006/relationships/font" Target="fonts/Karla-italic.fntdata"/><Relationship Id="rId10" Type="http://schemas.openxmlformats.org/officeDocument/2006/relationships/slide" Target="slides/slide4.xml"/><Relationship Id="rId32" Type="http://schemas.openxmlformats.org/officeDocument/2006/relationships/font" Target="fonts/Karla-bold.fntdata"/><Relationship Id="rId13" Type="http://schemas.openxmlformats.org/officeDocument/2006/relationships/slide" Target="slides/slide7.xml"/><Relationship Id="rId35" Type="http://customschemas.google.com/relationships/presentationmetadata" Target="metadata"/><Relationship Id="rId12" Type="http://schemas.openxmlformats.org/officeDocument/2006/relationships/slide" Target="slides/slide6.xml"/><Relationship Id="rId34" Type="http://schemas.openxmlformats.org/officeDocument/2006/relationships/font" Target="fonts/Karla-boldItalic.fntdata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9" name="Google Shape;349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0" name="Google Shape;37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4" name="Google Shape;38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2" name="Google Shape;44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Anna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7" name="Google Shape;46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Introducing..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Dailycious Vending Machines: Fresh food at the click of a button!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g31a4bfe9e73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0" name="Google Shape;480;g31a4bfe9e73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g31a4bfe9e73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2" name="Google Shape;492;g31a4bfe9e73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2" name="Google Shape;512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g31a917fecd2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3" name="Google Shape;523;g31a917fecd2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Helen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g31a917fecd2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4" name="Google Shape;534;g31a917fecd2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3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g31b72a673d9_1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5" name="Google Shape;545;g31b72a673d9_1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g31b72a673d9_1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2" name="Google Shape;552;g31b72a673d9_1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5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g31a5ac5c9e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7" name="Google Shape;557;g31a5ac5c9e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Donya</a:t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2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g31a5ac5c9e7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4" name="Google Shape;574;g31a5ac5c9e7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2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g31a917fecd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4" name="Google Shape;594;g31a917fecd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Helen</a:t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0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g31ab2ae2dac_2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2" name="Google Shape;612;g31ab2ae2dac_2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0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Google Shape;631;p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2" name="Google Shape;632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4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p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6" name="Google Shape;646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8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g31a917fecd2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0" name="Google Shape;660;g31a917fecd2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3" name="Shape 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Google Shape;664;g31a917fecd2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5" name="Google Shape;665;g31a917fecd2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Helen</a:t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9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Google Shape;670;g31a917fecd2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1" name="Google Shape;671;g31a917fecd2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7" name="Shape 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Google Shape;678;g31b72a673d9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9" name="Google Shape;679;g31b72a673d9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9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" name="Google Shape;690;g31b72a673d9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1" name="Google Shape;691;g31b72a673d9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hyperlink" Target="http://bit.ly/2Tynxth" TargetMode="External"/><Relationship Id="rId4" Type="http://schemas.openxmlformats.org/officeDocument/2006/relationships/hyperlink" Target="http://bit.ly/2TyoMsr" TargetMode="External"/><Relationship Id="rId5" Type="http://schemas.openxmlformats.org/officeDocument/2006/relationships/hyperlink" Target="http://bit.ly/2TtBDfr" TargetMode="Externa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5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850" y="0"/>
            <a:ext cx="9140300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54"/>
          <p:cNvSpPr/>
          <p:nvPr/>
        </p:nvSpPr>
        <p:spPr>
          <a:xfrm>
            <a:off x="5217163" y="4216200"/>
            <a:ext cx="1965000" cy="19650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54"/>
          <p:cNvSpPr/>
          <p:nvPr/>
        </p:nvSpPr>
        <p:spPr>
          <a:xfrm>
            <a:off x="7776413" y="-662825"/>
            <a:ext cx="1965000" cy="19650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2" name="Google Shape;12;p54"/>
          <p:cNvGrpSpPr/>
          <p:nvPr/>
        </p:nvGrpSpPr>
        <p:grpSpPr>
          <a:xfrm>
            <a:off x="3264964" y="4439950"/>
            <a:ext cx="999136" cy="789900"/>
            <a:chOff x="-87236" y="322200"/>
            <a:chExt cx="999136" cy="789900"/>
          </a:xfrm>
        </p:grpSpPr>
        <p:cxnSp>
          <p:nvCxnSpPr>
            <p:cNvPr id="13" name="Google Shape;13;p54"/>
            <p:cNvCxnSpPr/>
            <p:nvPr/>
          </p:nvCxnSpPr>
          <p:spPr>
            <a:xfrm flipH="1" rot="10800000">
              <a:off x="121700" y="322200"/>
              <a:ext cx="790200" cy="789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" name="Google Shape;14;p54"/>
            <p:cNvCxnSpPr/>
            <p:nvPr/>
          </p:nvCxnSpPr>
          <p:spPr>
            <a:xfrm flipH="1" rot="10800000">
              <a:off x="-87236" y="598650"/>
              <a:ext cx="442500" cy="4425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5" name="Google Shape;15;p54"/>
          <p:cNvSpPr txBox="1"/>
          <p:nvPr>
            <p:ph type="ctrTitle"/>
          </p:nvPr>
        </p:nvSpPr>
        <p:spPr>
          <a:xfrm>
            <a:off x="4410900" y="1032813"/>
            <a:ext cx="4020000" cy="2614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000">
                <a:solidFill>
                  <a:srgbClr val="191919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16" name="Google Shape;16;p54"/>
          <p:cNvSpPr txBox="1"/>
          <p:nvPr>
            <p:ph idx="1" type="subTitle"/>
          </p:nvPr>
        </p:nvSpPr>
        <p:spPr>
          <a:xfrm>
            <a:off x="4410900" y="3634879"/>
            <a:ext cx="4020000" cy="47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_1_1_1_1_1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5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flipH="1" rot="10800000">
            <a:off x="1850" y="0"/>
            <a:ext cx="9140300" cy="51435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" name="Google Shape;19;p55"/>
          <p:cNvGrpSpPr/>
          <p:nvPr/>
        </p:nvGrpSpPr>
        <p:grpSpPr>
          <a:xfrm>
            <a:off x="-120525" y="4543600"/>
            <a:ext cx="987763" cy="789900"/>
            <a:chOff x="-120525" y="4543600"/>
            <a:chExt cx="987763" cy="789900"/>
          </a:xfrm>
        </p:grpSpPr>
        <p:cxnSp>
          <p:nvCxnSpPr>
            <p:cNvPr id="20" name="Google Shape;20;p55"/>
            <p:cNvCxnSpPr/>
            <p:nvPr/>
          </p:nvCxnSpPr>
          <p:spPr>
            <a:xfrm flipH="1" rot="10800000">
              <a:off x="-120525" y="4543600"/>
              <a:ext cx="790200" cy="789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1" name="Google Shape;21;p55"/>
            <p:cNvCxnSpPr/>
            <p:nvPr/>
          </p:nvCxnSpPr>
          <p:spPr>
            <a:xfrm flipH="1" rot="10800000">
              <a:off x="424738" y="4642975"/>
              <a:ext cx="442500" cy="4425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22" name="Google Shape;22;p55"/>
          <p:cNvSpPr/>
          <p:nvPr/>
        </p:nvSpPr>
        <p:spPr>
          <a:xfrm>
            <a:off x="8260588" y="-1190275"/>
            <a:ext cx="1965000" cy="19650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55"/>
          <p:cNvSpPr/>
          <p:nvPr/>
        </p:nvSpPr>
        <p:spPr>
          <a:xfrm>
            <a:off x="3896696" y="4543600"/>
            <a:ext cx="1350600" cy="13506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p55"/>
          <p:cNvSpPr/>
          <p:nvPr/>
        </p:nvSpPr>
        <p:spPr>
          <a:xfrm>
            <a:off x="-1322387" y="-580075"/>
            <a:ext cx="1965000" cy="19650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25;p55"/>
          <p:cNvSpPr txBox="1"/>
          <p:nvPr>
            <p:ph type="title"/>
          </p:nvPr>
        </p:nvSpPr>
        <p:spPr>
          <a:xfrm>
            <a:off x="720000" y="53940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" name="Google Shape;26;p55"/>
          <p:cNvSpPr txBox="1"/>
          <p:nvPr>
            <p:ph idx="2" type="title"/>
          </p:nvPr>
        </p:nvSpPr>
        <p:spPr>
          <a:xfrm>
            <a:off x="716550" y="1782750"/>
            <a:ext cx="2327100" cy="34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27" name="Google Shape;27;p55"/>
          <p:cNvSpPr txBox="1"/>
          <p:nvPr>
            <p:ph idx="1" type="subTitle"/>
          </p:nvPr>
        </p:nvSpPr>
        <p:spPr>
          <a:xfrm>
            <a:off x="716550" y="2130452"/>
            <a:ext cx="23271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55"/>
          <p:cNvSpPr txBox="1"/>
          <p:nvPr>
            <p:ph idx="3" type="title"/>
          </p:nvPr>
        </p:nvSpPr>
        <p:spPr>
          <a:xfrm>
            <a:off x="6100350" y="1782750"/>
            <a:ext cx="2327100" cy="34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29" name="Google Shape;29;p55"/>
          <p:cNvSpPr txBox="1"/>
          <p:nvPr>
            <p:ph idx="4" type="subTitle"/>
          </p:nvPr>
        </p:nvSpPr>
        <p:spPr>
          <a:xfrm>
            <a:off x="6100350" y="2130452"/>
            <a:ext cx="23271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55"/>
          <p:cNvSpPr txBox="1"/>
          <p:nvPr>
            <p:ph idx="5" type="title"/>
          </p:nvPr>
        </p:nvSpPr>
        <p:spPr>
          <a:xfrm>
            <a:off x="716550" y="3297275"/>
            <a:ext cx="2327100" cy="34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31" name="Google Shape;31;p55"/>
          <p:cNvSpPr txBox="1"/>
          <p:nvPr>
            <p:ph idx="6" type="subTitle"/>
          </p:nvPr>
        </p:nvSpPr>
        <p:spPr>
          <a:xfrm>
            <a:off x="716550" y="3644975"/>
            <a:ext cx="23271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5"/>
          <p:cNvSpPr txBox="1"/>
          <p:nvPr>
            <p:ph idx="7" type="title"/>
          </p:nvPr>
        </p:nvSpPr>
        <p:spPr>
          <a:xfrm>
            <a:off x="6100350" y="3297275"/>
            <a:ext cx="2327100" cy="34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33" name="Google Shape;33;p55"/>
          <p:cNvSpPr txBox="1"/>
          <p:nvPr>
            <p:ph idx="8" type="subTitle"/>
          </p:nvPr>
        </p:nvSpPr>
        <p:spPr>
          <a:xfrm>
            <a:off x="6100350" y="3644975"/>
            <a:ext cx="23271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55"/>
          <p:cNvSpPr txBox="1"/>
          <p:nvPr>
            <p:ph idx="9" type="title"/>
          </p:nvPr>
        </p:nvSpPr>
        <p:spPr>
          <a:xfrm>
            <a:off x="3307075" y="1979100"/>
            <a:ext cx="9066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35" name="Google Shape;35;p55"/>
          <p:cNvSpPr txBox="1"/>
          <p:nvPr>
            <p:ph idx="13" type="title"/>
          </p:nvPr>
        </p:nvSpPr>
        <p:spPr>
          <a:xfrm>
            <a:off x="3307075" y="3493625"/>
            <a:ext cx="9066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36" name="Google Shape;36;p55"/>
          <p:cNvSpPr txBox="1"/>
          <p:nvPr>
            <p:ph idx="14" type="title"/>
          </p:nvPr>
        </p:nvSpPr>
        <p:spPr>
          <a:xfrm>
            <a:off x="4930325" y="1979100"/>
            <a:ext cx="9066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37" name="Google Shape;37;p55"/>
          <p:cNvSpPr txBox="1"/>
          <p:nvPr>
            <p:ph idx="15" type="title"/>
          </p:nvPr>
        </p:nvSpPr>
        <p:spPr>
          <a:xfrm>
            <a:off x="4930325" y="3493625"/>
            <a:ext cx="9066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bg>
      <p:bgPr>
        <a:solidFill>
          <a:schemeClr val="lt2"/>
        </a:solidFill>
      </p:bgPr>
    </p:bg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Google Shape;39;p5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850" y="0"/>
            <a:ext cx="9140300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56"/>
          <p:cNvSpPr/>
          <p:nvPr/>
        </p:nvSpPr>
        <p:spPr>
          <a:xfrm>
            <a:off x="-823762" y="2690100"/>
            <a:ext cx="1965000" cy="19650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56"/>
          <p:cNvSpPr/>
          <p:nvPr/>
        </p:nvSpPr>
        <p:spPr>
          <a:xfrm>
            <a:off x="8002738" y="2690100"/>
            <a:ext cx="1965000" cy="19650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p56"/>
          <p:cNvSpPr txBox="1"/>
          <p:nvPr>
            <p:ph type="title"/>
          </p:nvPr>
        </p:nvSpPr>
        <p:spPr>
          <a:xfrm>
            <a:off x="2241450" y="2819400"/>
            <a:ext cx="4661100" cy="67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43" name="Google Shape;43;p56"/>
          <p:cNvSpPr txBox="1"/>
          <p:nvPr>
            <p:ph idx="1" type="subTitle"/>
          </p:nvPr>
        </p:nvSpPr>
        <p:spPr>
          <a:xfrm>
            <a:off x="2241550" y="3495300"/>
            <a:ext cx="4661100" cy="116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lt2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57"/>
          <p:cNvSpPr/>
          <p:nvPr/>
        </p:nvSpPr>
        <p:spPr>
          <a:xfrm>
            <a:off x="5605600" y="332523"/>
            <a:ext cx="2757300" cy="67746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p57"/>
          <p:cNvSpPr/>
          <p:nvPr/>
        </p:nvSpPr>
        <p:spPr>
          <a:xfrm>
            <a:off x="-566737" y="-651725"/>
            <a:ext cx="1965000" cy="19650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p57"/>
          <p:cNvSpPr/>
          <p:nvPr/>
        </p:nvSpPr>
        <p:spPr>
          <a:xfrm>
            <a:off x="8543496" y="1152100"/>
            <a:ext cx="1350600" cy="13506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8" name="Google Shape;48;p5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flipH="1">
            <a:off x="1850" y="0"/>
            <a:ext cx="9140300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p57"/>
          <p:cNvSpPr txBox="1"/>
          <p:nvPr>
            <p:ph type="title"/>
          </p:nvPr>
        </p:nvSpPr>
        <p:spPr>
          <a:xfrm>
            <a:off x="661775" y="2812700"/>
            <a:ext cx="44244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50" name="Google Shape;50;p57"/>
          <p:cNvSpPr txBox="1"/>
          <p:nvPr>
            <p:ph idx="2" type="title"/>
          </p:nvPr>
        </p:nvSpPr>
        <p:spPr>
          <a:xfrm>
            <a:off x="2269800" y="1580860"/>
            <a:ext cx="12087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51" name="Google Shape;51;p57"/>
          <p:cNvSpPr txBox="1"/>
          <p:nvPr>
            <p:ph idx="1" type="subTitle"/>
          </p:nvPr>
        </p:nvSpPr>
        <p:spPr>
          <a:xfrm>
            <a:off x="661842" y="3654497"/>
            <a:ext cx="4424400" cy="3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CUSTOM_12_1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Google Shape;53;p5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850" y="0"/>
            <a:ext cx="9140300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58"/>
          <p:cNvSpPr/>
          <p:nvPr/>
        </p:nvSpPr>
        <p:spPr>
          <a:xfrm>
            <a:off x="-1395187" y="673775"/>
            <a:ext cx="1965000" cy="19650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5" name="Google Shape;55;p58"/>
          <p:cNvGrpSpPr/>
          <p:nvPr/>
        </p:nvGrpSpPr>
        <p:grpSpPr>
          <a:xfrm>
            <a:off x="-120525" y="4543600"/>
            <a:ext cx="987763" cy="789900"/>
            <a:chOff x="-120525" y="4543600"/>
            <a:chExt cx="987763" cy="789900"/>
          </a:xfrm>
        </p:grpSpPr>
        <p:cxnSp>
          <p:nvCxnSpPr>
            <p:cNvPr id="56" name="Google Shape;56;p58"/>
            <p:cNvCxnSpPr/>
            <p:nvPr/>
          </p:nvCxnSpPr>
          <p:spPr>
            <a:xfrm flipH="1" rot="10800000">
              <a:off x="-120525" y="4543600"/>
              <a:ext cx="790200" cy="789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7" name="Google Shape;57;p58"/>
            <p:cNvCxnSpPr/>
            <p:nvPr/>
          </p:nvCxnSpPr>
          <p:spPr>
            <a:xfrm flipH="1" rot="10800000">
              <a:off x="424738" y="4642975"/>
              <a:ext cx="442500" cy="4425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58" name="Google Shape;58;p58"/>
          <p:cNvGrpSpPr/>
          <p:nvPr/>
        </p:nvGrpSpPr>
        <p:grpSpPr>
          <a:xfrm>
            <a:off x="8111950" y="-116125"/>
            <a:ext cx="790200" cy="970600"/>
            <a:chOff x="8111950" y="-116125"/>
            <a:chExt cx="790200" cy="970600"/>
          </a:xfrm>
        </p:grpSpPr>
        <p:cxnSp>
          <p:nvCxnSpPr>
            <p:cNvPr id="59" name="Google Shape;59;p58"/>
            <p:cNvCxnSpPr/>
            <p:nvPr/>
          </p:nvCxnSpPr>
          <p:spPr>
            <a:xfrm flipH="1" rot="10800000">
              <a:off x="8111950" y="64575"/>
              <a:ext cx="790200" cy="789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0" name="Google Shape;60;p58"/>
            <p:cNvCxnSpPr/>
            <p:nvPr/>
          </p:nvCxnSpPr>
          <p:spPr>
            <a:xfrm flipH="1" rot="10800000">
              <a:off x="8352714" y="-116125"/>
              <a:ext cx="442500" cy="4425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61" name="Google Shape;61;p58"/>
          <p:cNvSpPr/>
          <p:nvPr/>
        </p:nvSpPr>
        <p:spPr>
          <a:xfrm>
            <a:off x="8558371" y="3460525"/>
            <a:ext cx="1350600" cy="13506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2" name="Google Shape;62;p58"/>
          <p:cNvGrpSpPr/>
          <p:nvPr/>
        </p:nvGrpSpPr>
        <p:grpSpPr>
          <a:xfrm>
            <a:off x="114798" y="3692522"/>
            <a:ext cx="8" cy="470666"/>
            <a:chOff x="1247773" y="438149"/>
            <a:chExt cx="6" cy="342901"/>
          </a:xfrm>
        </p:grpSpPr>
        <p:cxnSp>
          <p:nvCxnSpPr>
            <p:cNvPr id="63" name="Google Shape;63;p58"/>
            <p:cNvCxnSpPr/>
            <p:nvPr/>
          </p:nvCxnSpPr>
          <p:spPr>
            <a:xfrm>
              <a:off x="1247775" y="438150"/>
              <a:ext cx="0" cy="342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4" name="Google Shape;64;p58"/>
            <p:cNvCxnSpPr/>
            <p:nvPr/>
          </p:nvCxnSpPr>
          <p:spPr>
            <a:xfrm>
              <a:off x="1247773" y="438195"/>
              <a:ext cx="0" cy="342805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5" name="Google Shape;65;p58"/>
            <p:cNvCxnSpPr/>
            <p:nvPr/>
          </p:nvCxnSpPr>
          <p:spPr>
            <a:xfrm rot="10800000">
              <a:off x="1247774" y="438149"/>
              <a:ext cx="0" cy="342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6" name="Google Shape;66;p58"/>
            <p:cNvCxnSpPr/>
            <p:nvPr/>
          </p:nvCxnSpPr>
          <p:spPr>
            <a:xfrm rot="10800000">
              <a:off x="1247779" y="438201"/>
              <a:ext cx="0" cy="342805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67" name="Google Shape;67;p58"/>
          <p:cNvSpPr txBox="1"/>
          <p:nvPr>
            <p:ph type="title"/>
          </p:nvPr>
        </p:nvSpPr>
        <p:spPr>
          <a:xfrm>
            <a:off x="720000" y="53940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6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5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flipH="1" rot="10800000">
            <a:off x="1850" y="0"/>
            <a:ext cx="9140300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59"/>
          <p:cNvSpPr/>
          <p:nvPr/>
        </p:nvSpPr>
        <p:spPr>
          <a:xfrm>
            <a:off x="7929088" y="-222475"/>
            <a:ext cx="1965000" cy="19650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1" name="Google Shape;71;p59"/>
          <p:cNvGrpSpPr/>
          <p:nvPr/>
        </p:nvGrpSpPr>
        <p:grpSpPr>
          <a:xfrm>
            <a:off x="-154400" y="4209150"/>
            <a:ext cx="1084413" cy="789900"/>
            <a:chOff x="318000" y="4209150"/>
            <a:chExt cx="1084413" cy="789900"/>
          </a:xfrm>
        </p:grpSpPr>
        <p:cxnSp>
          <p:nvCxnSpPr>
            <p:cNvPr id="72" name="Google Shape;72;p59"/>
            <p:cNvCxnSpPr/>
            <p:nvPr/>
          </p:nvCxnSpPr>
          <p:spPr>
            <a:xfrm flipH="1" rot="10800000">
              <a:off x="318000" y="4209150"/>
              <a:ext cx="790200" cy="789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3" name="Google Shape;73;p59"/>
            <p:cNvCxnSpPr/>
            <p:nvPr/>
          </p:nvCxnSpPr>
          <p:spPr>
            <a:xfrm flipH="1" rot="10800000">
              <a:off x="959913" y="4209150"/>
              <a:ext cx="442500" cy="4425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74" name="Google Shape;74;p59"/>
          <p:cNvSpPr/>
          <p:nvPr/>
        </p:nvSpPr>
        <p:spPr>
          <a:xfrm>
            <a:off x="-420579" y="878275"/>
            <a:ext cx="1350600" cy="13506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59"/>
          <p:cNvSpPr txBox="1"/>
          <p:nvPr>
            <p:ph type="title"/>
          </p:nvPr>
        </p:nvSpPr>
        <p:spPr>
          <a:xfrm>
            <a:off x="720075" y="53940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76" name="Google Shape;76;p59"/>
          <p:cNvSpPr txBox="1"/>
          <p:nvPr>
            <p:ph idx="2" type="title"/>
          </p:nvPr>
        </p:nvSpPr>
        <p:spPr>
          <a:xfrm>
            <a:off x="890600" y="2941350"/>
            <a:ext cx="22695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77" name="Google Shape;77;p59"/>
          <p:cNvSpPr txBox="1"/>
          <p:nvPr>
            <p:ph idx="1" type="subTitle"/>
          </p:nvPr>
        </p:nvSpPr>
        <p:spPr>
          <a:xfrm>
            <a:off x="890600" y="3266575"/>
            <a:ext cx="2269500" cy="8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59"/>
          <p:cNvSpPr txBox="1"/>
          <p:nvPr>
            <p:ph idx="3" type="title"/>
          </p:nvPr>
        </p:nvSpPr>
        <p:spPr>
          <a:xfrm>
            <a:off x="3437326" y="2941350"/>
            <a:ext cx="22695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79" name="Google Shape;79;p59"/>
          <p:cNvSpPr txBox="1"/>
          <p:nvPr>
            <p:ph idx="4" type="subTitle"/>
          </p:nvPr>
        </p:nvSpPr>
        <p:spPr>
          <a:xfrm>
            <a:off x="3437325" y="3266575"/>
            <a:ext cx="2269500" cy="8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59"/>
          <p:cNvSpPr txBox="1"/>
          <p:nvPr>
            <p:ph idx="5" type="title"/>
          </p:nvPr>
        </p:nvSpPr>
        <p:spPr>
          <a:xfrm>
            <a:off x="5984051" y="2941350"/>
            <a:ext cx="22695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81" name="Google Shape;81;p59"/>
          <p:cNvSpPr txBox="1"/>
          <p:nvPr>
            <p:ph idx="6" type="subTitle"/>
          </p:nvPr>
        </p:nvSpPr>
        <p:spPr>
          <a:xfrm>
            <a:off x="5984050" y="3266575"/>
            <a:ext cx="2269500" cy="8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6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flipH="1" rot="10800000">
            <a:off x="1850" y="0"/>
            <a:ext cx="9140300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60"/>
          <p:cNvSpPr/>
          <p:nvPr/>
        </p:nvSpPr>
        <p:spPr>
          <a:xfrm>
            <a:off x="-566737" y="1353875"/>
            <a:ext cx="1965000" cy="19650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5" name="Google Shape;85;p60"/>
          <p:cNvGrpSpPr/>
          <p:nvPr/>
        </p:nvGrpSpPr>
        <p:grpSpPr>
          <a:xfrm>
            <a:off x="760200" y="4408975"/>
            <a:ext cx="1084413" cy="789900"/>
            <a:chOff x="318000" y="4209150"/>
            <a:chExt cx="1084413" cy="789900"/>
          </a:xfrm>
        </p:grpSpPr>
        <p:cxnSp>
          <p:nvCxnSpPr>
            <p:cNvPr id="86" name="Google Shape;86;p60"/>
            <p:cNvCxnSpPr/>
            <p:nvPr/>
          </p:nvCxnSpPr>
          <p:spPr>
            <a:xfrm flipH="1" rot="10800000">
              <a:off x="318000" y="4209150"/>
              <a:ext cx="790200" cy="789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7" name="Google Shape;87;p60"/>
            <p:cNvCxnSpPr/>
            <p:nvPr/>
          </p:nvCxnSpPr>
          <p:spPr>
            <a:xfrm flipH="1" rot="10800000">
              <a:off x="959913" y="4209150"/>
              <a:ext cx="442500" cy="4425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88" name="Google Shape;88;p60"/>
          <p:cNvSpPr/>
          <p:nvPr/>
        </p:nvSpPr>
        <p:spPr>
          <a:xfrm>
            <a:off x="8277071" y="2470838"/>
            <a:ext cx="1350600" cy="13506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60"/>
          <p:cNvSpPr txBox="1"/>
          <p:nvPr>
            <p:ph type="title"/>
          </p:nvPr>
        </p:nvSpPr>
        <p:spPr>
          <a:xfrm>
            <a:off x="707375" y="539400"/>
            <a:ext cx="3340800" cy="85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BLANK_1_1">
    <p:bg>
      <p:bgPr>
        <a:solidFill>
          <a:schemeClr val="lt2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6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flipH="1" rot="10800000">
            <a:off x="1850" y="0"/>
            <a:ext cx="9140300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61"/>
          <p:cNvSpPr/>
          <p:nvPr/>
        </p:nvSpPr>
        <p:spPr>
          <a:xfrm>
            <a:off x="1501606" y="2571750"/>
            <a:ext cx="6141000" cy="32145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61"/>
          <p:cNvSpPr/>
          <p:nvPr/>
        </p:nvSpPr>
        <p:spPr>
          <a:xfrm>
            <a:off x="-566737" y="735825"/>
            <a:ext cx="1965000" cy="19650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4" name="Google Shape;94;p61"/>
          <p:cNvGrpSpPr/>
          <p:nvPr/>
        </p:nvGrpSpPr>
        <p:grpSpPr>
          <a:xfrm>
            <a:off x="-81650" y="3876125"/>
            <a:ext cx="1084413" cy="789900"/>
            <a:chOff x="318000" y="4209150"/>
            <a:chExt cx="1084413" cy="789900"/>
          </a:xfrm>
        </p:grpSpPr>
        <p:cxnSp>
          <p:nvCxnSpPr>
            <p:cNvPr id="95" name="Google Shape;95;p61"/>
            <p:cNvCxnSpPr/>
            <p:nvPr/>
          </p:nvCxnSpPr>
          <p:spPr>
            <a:xfrm flipH="1" rot="10800000">
              <a:off x="318000" y="4209150"/>
              <a:ext cx="790200" cy="789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6" name="Google Shape;96;p61"/>
            <p:cNvCxnSpPr/>
            <p:nvPr/>
          </p:nvCxnSpPr>
          <p:spPr>
            <a:xfrm flipH="1" rot="10800000">
              <a:off x="959913" y="4209150"/>
              <a:ext cx="442500" cy="4425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97" name="Google Shape;97;p61"/>
          <p:cNvSpPr/>
          <p:nvPr/>
        </p:nvSpPr>
        <p:spPr>
          <a:xfrm>
            <a:off x="8543496" y="1152100"/>
            <a:ext cx="1350600" cy="13506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61"/>
          <p:cNvSpPr txBox="1"/>
          <p:nvPr>
            <p:ph type="title"/>
          </p:nvPr>
        </p:nvSpPr>
        <p:spPr>
          <a:xfrm>
            <a:off x="2391888" y="1657738"/>
            <a:ext cx="4360200" cy="53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99" name="Google Shape;99;p61"/>
          <p:cNvSpPr txBox="1"/>
          <p:nvPr>
            <p:ph idx="1" type="subTitle"/>
          </p:nvPr>
        </p:nvSpPr>
        <p:spPr>
          <a:xfrm>
            <a:off x="2075850" y="520650"/>
            <a:ext cx="4992300" cy="113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0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3000"/>
              <a:buNone/>
              <a:defRPr sz="3000"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CUSTOM_12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Google Shape;101;p6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flipH="1">
            <a:off x="1850" y="0"/>
            <a:ext cx="9140300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62"/>
          <p:cNvSpPr txBox="1"/>
          <p:nvPr>
            <p:ph type="title"/>
          </p:nvPr>
        </p:nvSpPr>
        <p:spPr>
          <a:xfrm>
            <a:off x="720000" y="53940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03" name="Google Shape;103;p62"/>
          <p:cNvSpPr/>
          <p:nvPr/>
        </p:nvSpPr>
        <p:spPr>
          <a:xfrm>
            <a:off x="8459213" y="433400"/>
            <a:ext cx="1965000" cy="19650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4" name="Google Shape;104;p62"/>
          <p:cNvGrpSpPr/>
          <p:nvPr/>
        </p:nvGrpSpPr>
        <p:grpSpPr>
          <a:xfrm>
            <a:off x="6506275" y="4543600"/>
            <a:ext cx="987763" cy="789900"/>
            <a:chOff x="-120525" y="4543600"/>
            <a:chExt cx="987763" cy="789900"/>
          </a:xfrm>
        </p:grpSpPr>
        <p:cxnSp>
          <p:nvCxnSpPr>
            <p:cNvPr id="105" name="Google Shape;105;p62"/>
            <p:cNvCxnSpPr/>
            <p:nvPr/>
          </p:nvCxnSpPr>
          <p:spPr>
            <a:xfrm flipH="1" rot="10800000">
              <a:off x="-120525" y="4543600"/>
              <a:ext cx="790200" cy="789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6" name="Google Shape;106;p62"/>
            <p:cNvCxnSpPr/>
            <p:nvPr/>
          </p:nvCxnSpPr>
          <p:spPr>
            <a:xfrm flipH="1" rot="10800000">
              <a:off x="424738" y="4642975"/>
              <a:ext cx="442500" cy="4425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07" name="Google Shape;107;p62"/>
          <p:cNvGrpSpPr/>
          <p:nvPr/>
        </p:nvGrpSpPr>
        <p:grpSpPr>
          <a:xfrm>
            <a:off x="819025" y="-116125"/>
            <a:ext cx="790200" cy="970600"/>
            <a:chOff x="8111950" y="-116125"/>
            <a:chExt cx="790200" cy="970600"/>
          </a:xfrm>
        </p:grpSpPr>
        <p:cxnSp>
          <p:nvCxnSpPr>
            <p:cNvPr id="108" name="Google Shape;108;p62"/>
            <p:cNvCxnSpPr/>
            <p:nvPr/>
          </p:nvCxnSpPr>
          <p:spPr>
            <a:xfrm flipH="1" rot="10800000">
              <a:off x="8111950" y="64575"/>
              <a:ext cx="790200" cy="789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9" name="Google Shape;109;p62"/>
            <p:cNvCxnSpPr/>
            <p:nvPr/>
          </p:nvCxnSpPr>
          <p:spPr>
            <a:xfrm flipH="1" rot="10800000">
              <a:off x="8352714" y="-116125"/>
              <a:ext cx="442500" cy="4425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10" name="Google Shape;110;p62"/>
          <p:cNvSpPr/>
          <p:nvPr/>
        </p:nvSpPr>
        <p:spPr>
          <a:xfrm>
            <a:off x="3957371" y="4645300"/>
            <a:ext cx="1350600" cy="13506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1" name="Google Shape;111;p62"/>
          <p:cNvGrpSpPr/>
          <p:nvPr/>
        </p:nvGrpSpPr>
        <p:grpSpPr>
          <a:xfrm>
            <a:off x="8959698" y="3644447"/>
            <a:ext cx="8" cy="470666"/>
            <a:chOff x="1247773" y="438149"/>
            <a:chExt cx="6" cy="342901"/>
          </a:xfrm>
        </p:grpSpPr>
        <p:cxnSp>
          <p:nvCxnSpPr>
            <p:cNvPr id="112" name="Google Shape;112;p62"/>
            <p:cNvCxnSpPr/>
            <p:nvPr/>
          </p:nvCxnSpPr>
          <p:spPr>
            <a:xfrm>
              <a:off x="1247775" y="438150"/>
              <a:ext cx="0" cy="342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3" name="Google Shape;113;p62"/>
            <p:cNvCxnSpPr/>
            <p:nvPr/>
          </p:nvCxnSpPr>
          <p:spPr>
            <a:xfrm>
              <a:off x="1247773" y="438195"/>
              <a:ext cx="0" cy="342805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4" name="Google Shape;114;p62"/>
            <p:cNvCxnSpPr/>
            <p:nvPr/>
          </p:nvCxnSpPr>
          <p:spPr>
            <a:xfrm rot="10800000">
              <a:off x="1247774" y="438149"/>
              <a:ext cx="0" cy="342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5" name="Google Shape;115;p62"/>
            <p:cNvCxnSpPr/>
            <p:nvPr/>
          </p:nvCxnSpPr>
          <p:spPr>
            <a:xfrm rot="10800000">
              <a:off x="1247779" y="438201"/>
              <a:ext cx="0" cy="342805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16" name="Google Shape;116;p62"/>
          <p:cNvSpPr/>
          <p:nvPr/>
        </p:nvSpPr>
        <p:spPr>
          <a:xfrm>
            <a:off x="-787829" y="1349050"/>
            <a:ext cx="1350600" cy="13506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7" name="Google Shape;117;p62"/>
          <p:cNvGrpSpPr/>
          <p:nvPr/>
        </p:nvGrpSpPr>
        <p:grpSpPr>
          <a:xfrm>
            <a:off x="190348" y="4645297"/>
            <a:ext cx="8" cy="470666"/>
            <a:chOff x="1247773" y="438149"/>
            <a:chExt cx="6" cy="342901"/>
          </a:xfrm>
        </p:grpSpPr>
        <p:cxnSp>
          <p:nvCxnSpPr>
            <p:cNvPr id="118" name="Google Shape;118;p62"/>
            <p:cNvCxnSpPr/>
            <p:nvPr/>
          </p:nvCxnSpPr>
          <p:spPr>
            <a:xfrm>
              <a:off x="1247775" y="438150"/>
              <a:ext cx="0" cy="342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9" name="Google Shape;119;p62"/>
            <p:cNvCxnSpPr/>
            <p:nvPr/>
          </p:nvCxnSpPr>
          <p:spPr>
            <a:xfrm>
              <a:off x="1247773" y="438195"/>
              <a:ext cx="0" cy="342805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0" name="Google Shape;120;p62"/>
            <p:cNvCxnSpPr/>
            <p:nvPr/>
          </p:nvCxnSpPr>
          <p:spPr>
            <a:xfrm rot="10800000">
              <a:off x="1247774" y="438149"/>
              <a:ext cx="0" cy="342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1" name="Google Shape;121;p62"/>
            <p:cNvCxnSpPr/>
            <p:nvPr/>
          </p:nvCxnSpPr>
          <p:spPr>
            <a:xfrm rot="10800000">
              <a:off x="1247779" y="438201"/>
              <a:ext cx="0" cy="342805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7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" name="Google Shape;123;p6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rot="10800000">
            <a:off x="1850" y="0"/>
            <a:ext cx="9140300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63"/>
          <p:cNvSpPr/>
          <p:nvPr/>
        </p:nvSpPr>
        <p:spPr>
          <a:xfrm>
            <a:off x="-1089337" y="-385275"/>
            <a:ext cx="1965000" cy="19650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25" name="Google Shape;125;p63"/>
          <p:cNvGrpSpPr/>
          <p:nvPr/>
        </p:nvGrpSpPr>
        <p:grpSpPr>
          <a:xfrm>
            <a:off x="-154400" y="4209150"/>
            <a:ext cx="1084413" cy="789900"/>
            <a:chOff x="318000" y="4209150"/>
            <a:chExt cx="1084413" cy="789900"/>
          </a:xfrm>
        </p:grpSpPr>
        <p:cxnSp>
          <p:nvCxnSpPr>
            <p:cNvPr id="126" name="Google Shape;126;p63"/>
            <p:cNvCxnSpPr/>
            <p:nvPr/>
          </p:nvCxnSpPr>
          <p:spPr>
            <a:xfrm flipH="1" rot="10800000">
              <a:off x="318000" y="4209150"/>
              <a:ext cx="790200" cy="789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7" name="Google Shape;127;p63"/>
            <p:cNvCxnSpPr/>
            <p:nvPr/>
          </p:nvCxnSpPr>
          <p:spPr>
            <a:xfrm flipH="1" rot="10800000">
              <a:off x="959913" y="4209150"/>
              <a:ext cx="442500" cy="4425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28" name="Google Shape;128;p63"/>
          <p:cNvGrpSpPr/>
          <p:nvPr/>
        </p:nvGrpSpPr>
        <p:grpSpPr>
          <a:xfrm>
            <a:off x="8461950" y="296525"/>
            <a:ext cx="790200" cy="970600"/>
            <a:chOff x="4380675" y="1010050"/>
            <a:chExt cx="790200" cy="970600"/>
          </a:xfrm>
        </p:grpSpPr>
        <p:cxnSp>
          <p:nvCxnSpPr>
            <p:cNvPr id="129" name="Google Shape;129;p63"/>
            <p:cNvCxnSpPr/>
            <p:nvPr/>
          </p:nvCxnSpPr>
          <p:spPr>
            <a:xfrm flipH="1" rot="10800000">
              <a:off x="4380675" y="1190750"/>
              <a:ext cx="790200" cy="789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0" name="Google Shape;130;p63"/>
            <p:cNvCxnSpPr/>
            <p:nvPr/>
          </p:nvCxnSpPr>
          <p:spPr>
            <a:xfrm flipH="1" rot="10800000">
              <a:off x="4621439" y="1010050"/>
              <a:ext cx="442500" cy="4425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31" name="Google Shape;131;p63"/>
          <p:cNvSpPr/>
          <p:nvPr/>
        </p:nvSpPr>
        <p:spPr>
          <a:xfrm>
            <a:off x="8586096" y="3091100"/>
            <a:ext cx="1350600" cy="13506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63"/>
          <p:cNvSpPr txBox="1"/>
          <p:nvPr>
            <p:ph type="title"/>
          </p:nvPr>
        </p:nvSpPr>
        <p:spPr>
          <a:xfrm>
            <a:off x="720000" y="53940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33" name="Google Shape;133;p63"/>
          <p:cNvSpPr txBox="1"/>
          <p:nvPr>
            <p:ph idx="2" type="title"/>
          </p:nvPr>
        </p:nvSpPr>
        <p:spPr>
          <a:xfrm>
            <a:off x="875675" y="1942400"/>
            <a:ext cx="21321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34" name="Google Shape;134;p63"/>
          <p:cNvSpPr txBox="1"/>
          <p:nvPr>
            <p:ph idx="1" type="subTitle"/>
          </p:nvPr>
        </p:nvSpPr>
        <p:spPr>
          <a:xfrm>
            <a:off x="875675" y="2267600"/>
            <a:ext cx="21321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63"/>
          <p:cNvSpPr txBox="1"/>
          <p:nvPr>
            <p:ph idx="3" type="title"/>
          </p:nvPr>
        </p:nvSpPr>
        <p:spPr>
          <a:xfrm>
            <a:off x="3505928" y="1942400"/>
            <a:ext cx="21321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36" name="Google Shape;136;p63"/>
          <p:cNvSpPr txBox="1"/>
          <p:nvPr>
            <p:ph idx="4" type="subTitle"/>
          </p:nvPr>
        </p:nvSpPr>
        <p:spPr>
          <a:xfrm>
            <a:off x="3505928" y="2267600"/>
            <a:ext cx="21321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37" name="Google Shape;137;p63"/>
          <p:cNvSpPr txBox="1"/>
          <p:nvPr>
            <p:ph idx="5" type="title"/>
          </p:nvPr>
        </p:nvSpPr>
        <p:spPr>
          <a:xfrm>
            <a:off x="875675" y="3756800"/>
            <a:ext cx="21321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38" name="Google Shape;138;p63"/>
          <p:cNvSpPr txBox="1"/>
          <p:nvPr>
            <p:ph idx="6" type="subTitle"/>
          </p:nvPr>
        </p:nvSpPr>
        <p:spPr>
          <a:xfrm>
            <a:off x="875675" y="4082000"/>
            <a:ext cx="21321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39" name="Google Shape;139;p63"/>
          <p:cNvSpPr txBox="1"/>
          <p:nvPr>
            <p:ph idx="7" type="title"/>
          </p:nvPr>
        </p:nvSpPr>
        <p:spPr>
          <a:xfrm>
            <a:off x="3505925" y="3756800"/>
            <a:ext cx="21321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40" name="Google Shape;140;p63"/>
          <p:cNvSpPr txBox="1"/>
          <p:nvPr>
            <p:ph idx="8" type="subTitle"/>
          </p:nvPr>
        </p:nvSpPr>
        <p:spPr>
          <a:xfrm>
            <a:off x="3505979" y="4082000"/>
            <a:ext cx="21321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41" name="Google Shape;141;p63"/>
          <p:cNvSpPr txBox="1"/>
          <p:nvPr>
            <p:ph idx="9" type="title"/>
          </p:nvPr>
        </p:nvSpPr>
        <p:spPr>
          <a:xfrm>
            <a:off x="6136125" y="1942400"/>
            <a:ext cx="21321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42" name="Google Shape;142;p63"/>
          <p:cNvSpPr txBox="1"/>
          <p:nvPr>
            <p:ph idx="13" type="subTitle"/>
          </p:nvPr>
        </p:nvSpPr>
        <p:spPr>
          <a:xfrm>
            <a:off x="6136125" y="2267600"/>
            <a:ext cx="21321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43" name="Google Shape;143;p63"/>
          <p:cNvSpPr txBox="1"/>
          <p:nvPr>
            <p:ph idx="14" type="title"/>
          </p:nvPr>
        </p:nvSpPr>
        <p:spPr>
          <a:xfrm>
            <a:off x="6136125" y="3756800"/>
            <a:ext cx="21321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44" name="Google Shape;144;p63"/>
          <p:cNvSpPr txBox="1"/>
          <p:nvPr>
            <p:ph idx="15" type="subTitle"/>
          </p:nvPr>
        </p:nvSpPr>
        <p:spPr>
          <a:xfrm>
            <a:off x="6136232" y="4082000"/>
            <a:ext cx="21321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Google Shape;146;p6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rot="10800000">
            <a:off x="1850" y="0"/>
            <a:ext cx="9140300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64"/>
          <p:cNvSpPr/>
          <p:nvPr/>
        </p:nvSpPr>
        <p:spPr>
          <a:xfrm>
            <a:off x="7606188" y="-759025"/>
            <a:ext cx="1965000" cy="19650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48" name="Google Shape;148;p64"/>
          <p:cNvGrpSpPr/>
          <p:nvPr/>
        </p:nvGrpSpPr>
        <p:grpSpPr>
          <a:xfrm>
            <a:off x="-164675" y="1170625"/>
            <a:ext cx="790200" cy="970600"/>
            <a:chOff x="121700" y="141500"/>
            <a:chExt cx="790200" cy="970600"/>
          </a:xfrm>
        </p:grpSpPr>
        <p:cxnSp>
          <p:nvCxnSpPr>
            <p:cNvPr id="149" name="Google Shape;149;p64"/>
            <p:cNvCxnSpPr/>
            <p:nvPr/>
          </p:nvCxnSpPr>
          <p:spPr>
            <a:xfrm flipH="1" rot="10800000">
              <a:off x="121700" y="322200"/>
              <a:ext cx="790200" cy="789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0" name="Google Shape;150;p64"/>
            <p:cNvCxnSpPr/>
            <p:nvPr/>
          </p:nvCxnSpPr>
          <p:spPr>
            <a:xfrm flipH="1" rot="10800000">
              <a:off x="362464" y="141500"/>
              <a:ext cx="442500" cy="4425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51" name="Google Shape;151;p64"/>
          <p:cNvGrpSpPr/>
          <p:nvPr/>
        </p:nvGrpSpPr>
        <p:grpSpPr>
          <a:xfrm>
            <a:off x="3264964" y="4439950"/>
            <a:ext cx="999136" cy="789900"/>
            <a:chOff x="-87236" y="322200"/>
            <a:chExt cx="999136" cy="789900"/>
          </a:xfrm>
        </p:grpSpPr>
        <p:cxnSp>
          <p:nvCxnSpPr>
            <p:cNvPr id="152" name="Google Shape;152;p64"/>
            <p:cNvCxnSpPr/>
            <p:nvPr/>
          </p:nvCxnSpPr>
          <p:spPr>
            <a:xfrm flipH="1" rot="10800000">
              <a:off x="121700" y="322200"/>
              <a:ext cx="790200" cy="789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3" name="Google Shape;153;p64"/>
            <p:cNvCxnSpPr/>
            <p:nvPr/>
          </p:nvCxnSpPr>
          <p:spPr>
            <a:xfrm flipH="1" rot="10800000">
              <a:off x="-87236" y="598650"/>
              <a:ext cx="442500" cy="4425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54" name="Google Shape;154;p64"/>
          <p:cNvSpPr/>
          <p:nvPr/>
        </p:nvSpPr>
        <p:spPr>
          <a:xfrm>
            <a:off x="5696571" y="4216338"/>
            <a:ext cx="1350600" cy="13506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64"/>
          <p:cNvSpPr txBox="1"/>
          <p:nvPr>
            <p:ph idx="1" type="body"/>
          </p:nvPr>
        </p:nvSpPr>
        <p:spPr>
          <a:xfrm>
            <a:off x="4673400" y="1708125"/>
            <a:ext cx="3757500" cy="232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>
                <a:solidFill>
                  <a:srgbClr val="434343"/>
                </a:solidFill>
              </a:defRPr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solidFill>
                  <a:srgbClr val="434343"/>
                </a:solidFill>
              </a:defRPr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>
                <a:solidFill>
                  <a:srgbClr val="434343"/>
                </a:solidFill>
              </a:defRPr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>
                <a:solidFill>
                  <a:srgbClr val="434343"/>
                </a:solidFill>
              </a:defRPr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>
                <a:solidFill>
                  <a:srgbClr val="434343"/>
                </a:solidFill>
              </a:defRPr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>
                <a:solidFill>
                  <a:srgbClr val="434343"/>
                </a:solidFill>
              </a:defRPr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>
                <a:solidFill>
                  <a:srgbClr val="434343"/>
                </a:solidFill>
              </a:defRPr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>
                <a:solidFill>
                  <a:srgbClr val="434343"/>
                </a:solidFill>
              </a:defRPr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156" name="Google Shape;156;p64"/>
          <p:cNvSpPr txBox="1"/>
          <p:nvPr>
            <p:ph type="title"/>
          </p:nvPr>
        </p:nvSpPr>
        <p:spPr>
          <a:xfrm>
            <a:off x="4673400" y="1110075"/>
            <a:ext cx="3757500" cy="59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5"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" name="Google Shape;158;p6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flipH="1" rot="10800000">
            <a:off x="1850" y="0"/>
            <a:ext cx="9140300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65"/>
          <p:cNvSpPr/>
          <p:nvPr/>
        </p:nvSpPr>
        <p:spPr>
          <a:xfrm>
            <a:off x="-963512" y="-22600"/>
            <a:ext cx="1965000" cy="19650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60" name="Google Shape;160;p65"/>
          <p:cNvGrpSpPr/>
          <p:nvPr/>
        </p:nvGrpSpPr>
        <p:grpSpPr>
          <a:xfrm>
            <a:off x="-147000" y="4505400"/>
            <a:ext cx="1084413" cy="789900"/>
            <a:chOff x="318000" y="4209150"/>
            <a:chExt cx="1084413" cy="789900"/>
          </a:xfrm>
        </p:grpSpPr>
        <p:cxnSp>
          <p:nvCxnSpPr>
            <p:cNvPr id="161" name="Google Shape;161;p65"/>
            <p:cNvCxnSpPr/>
            <p:nvPr/>
          </p:nvCxnSpPr>
          <p:spPr>
            <a:xfrm flipH="1" rot="10800000">
              <a:off x="318000" y="4209150"/>
              <a:ext cx="790200" cy="789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2" name="Google Shape;162;p65"/>
            <p:cNvCxnSpPr/>
            <p:nvPr/>
          </p:nvCxnSpPr>
          <p:spPr>
            <a:xfrm flipH="1" rot="10800000">
              <a:off x="959913" y="4209150"/>
              <a:ext cx="442500" cy="4425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63" name="Google Shape;163;p65"/>
          <p:cNvGrpSpPr/>
          <p:nvPr/>
        </p:nvGrpSpPr>
        <p:grpSpPr>
          <a:xfrm>
            <a:off x="8461950" y="296525"/>
            <a:ext cx="790200" cy="970600"/>
            <a:chOff x="4380675" y="1010050"/>
            <a:chExt cx="790200" cy="970600"/>
          </a:xfrm>
        </p:grpSpPr>
        <p:cxnSp>
          <p:nvCxnSpPr>
            <p:cNvPr id="164" name="Google Shape;164;p65"/>
            <p:cNvCxnSpPr/>
            <p:nvPr/>
          </p:nvCxnSpPr>
          <p:spPr>
            <a:xfrm flipH="1" rot="10800000">
              <a:off x="4380675" y="1190750"/>
              <a:ext cx="790200" cy="789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5" name="Google Shape;165;p65"/>
            <p:cNvCxnSpPr/>
            <p:nvPr/>
          </p:nvCxnSpPr>
          <p:spPr>
            <a:xfrm flipH="1" rot="10800000">
              <a:off x="4621439" y="1010050"/>
              <a:ext cx="442500" cy="4425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66" name="Google Shape;166;p65"/>
          <p:cNvSpPr/>
          <p:nvPr/>
        </p:nvSpPr>
        <p:spPr>
          <a:xfrm>
            <a:off x="8586096" y="2802475"/>
            <a:ext cx="1350600" cy="13506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65"/>
          <p:cNvSpPr txBox="1"/>
          <p:nvPr>
            <p:ph type="title"/>
          </p:nvPr>
        </p:nvSpPr>
        <p:spPr>
          <a:xfrm>
            <a:off x="720000" y="53940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68" name="Google Shape;168;p65"/>
          <p:cNvSpPr txBox="1"/>
          <p:nvPr>
            <p:ph idx="2" type="title"/>
          </p:nvPr>
        </p:nvSpPr>
        <p:spPr>
          <a:xfrm>
            <a:off x="1062251" y="1942400"/>
            <a:ext cx="30399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69" name="Google Shape;169;p65"/>
          <p:cNvSpPr txBox="1"/>
          <p:nvPr>
            <p:ph idx="1" type="subTitle"/>
          </p:nvPr>
        </p:nvSpPr>
        <p:spPr>
          <a:xfrm>
            <a:off x="1062250" y="2267600"/>
            <a:ext cx="3039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70" name="Google Shape;170;p65"/>
          <p:cNvSpPr txBox="1"/>
          <p:nvPr>
            <p:ph idx="3" type="title"/>
          </p:nvPr>
        </p:nvSpPr>
        <p:spPr>
          <a:xfrm>
            <a:off x="5041779" y="1942400"/>
            <a:ext cx="30399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71" name="Google Shape;171;p65"/>
          <p:cNvSpPr txBox="1"/>
          <p:nvPr>
            <p:ph idx="4" type="subTitle"/>
          </p:nvPr>
        </p:nvSpPr>
        <p:spPr>
          <a:xfrm>
            <a:off x="5041777" y="2267600"/>
            <a:ext cx="3039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72" name="Google Shape;172;p65"/>
          <p:cNvSpPr txBox="1"/>
          <p:nvPr>
            <p:ph idx="5" type="title"/>
          </p:nvPr>
        </p:nvSpPr>
        <p:spPr>
          <a:xfrm>
            <a:off x="1062251" y="3756800"/>
            <a:ext cx="30399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73" name="Google Shape;173;p65"/>
          <p:cNvSpPr txBox="1"/>
          <p:nvPr>
            <p:ph idx="6" type="subTitle"/>
          </p:nvPr>
        </p:nvSpPr>
        <p:spPr>
          <a:xfrm>
            <a:off x="1062250" y="4082000"/>
            <a:ext cx="3039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74" name="Google Shape;174;p65"/>
          <p:cNvSpPr txBox="1"/>
          <p:nvPr>
            <p:ph idx="7" type="title"/>
          </p:nvPr>
        </p:nvSpPr>
        <p:spPr>
          <a:xfrm>
            <a:off x="5041779" y="3756800"/>
            <a:ext cx="30399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75" name="Google Shape;175;p65"/>
          <p:cNvSpPr txBox="1"/>
          <p:nvPr>
            <p:ph idx="8" type="subTitle"/>
          </p:nvPr>
        </p:nvSpPr>
        <p:spPr>
          <a:xfrm>
            <a:off x="5041777" y="4082000"/>
            <a:ext cx="3039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7" name="Google Shape;177;p6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flipH="1" rot="10800000">
            <a:off x="1850" y="0"/>
            <a:ext cx="9140300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66"/>
          <p:cNvSpPr/>
          <p:nvPr/>
        </p:nvSpPr>
        <p:spPr>
          <a:xfrm>
            <a:off x="-823762" y="863975"/>
            <a:ext cx="1965000" cy="19650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66"/>
          <p:cNvSpPr/>
          <p:nvPr/>
        </p:nvSpPr>
        <p:spPr>
          <a:xfrm>
            <a:off x="8002738" y="2291200"/>
            <a:ext cx="1965000" cy="19650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66"/>
          <p:cNvSpPr/>
          <p:nvPr/>
        </p:nvSpPr>
        <p:spPr>
          <a:xfrm>
            <a:off x="3896696" y="4156800"/>
            <a:ext cx="1350600" cy="13506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66"/>
          <p:cNvSpPr txBox="1"/>
          <p:nvPr>
            <p:ph type="title"/>
          </p:nvPr>
        </p:nvSpPr>
        <p:spPr>
          <a:xfrm>
            <a:off x="1957950" y="1307100"/>
            <a:ext cx="5228100" cy="252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7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67"/>
          <p:cNvSpPr txBox="1"/>
          <p:nvPr>
            <p:ph type="title"/>
          </p:nvPr>
        </p:nvSpPr>
        <p:spPr>
          <a:xfrm>
            <a:off x="720000" y="53940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84" name="Google Shape;184;p67"/>
          <p:cNvSpPr/>
          <p:nvPr/>
        </p:nvSpPr>
        <p:spPr>
          <a:xfrm>
            <a:off x="8530463" y="3090050"/>
            <a:ext cx="1965000" cy="19650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85" name="Google Shape;185;p67"/>
          <p:cNvGrpSpPr/>
          <p:nvPr/>
        </p:nvGrpSpPr>
        <p:grpSpPr>
          <a:xfrm>
            <a:off x="165048" y="1799459"/>
            <a:ext cx="8" cy="470666"/>
            <a:chOff x="1247773" y="438149"/>
            <a:chExt cx="6" cy="342901"/>
          </a:xfrm>
        </p:grpSpPr>
        <p:cxnSp>
          <p:nvCxnSpPr>
            <p:cNvPr id="186" name="Google Shape;186;p67"/>
            <p:cNvCxnSpPr/>
            <p:nvPr/>
          </p:nvCxnSpPr>
          <p:spPr>
            <a:xfrm>
              <a:off x="1247775" y="438150"/>
              <a:ext cx="0" cy="342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87" name="Google Shape;187;p67"/>
            <p:cNvCxnSpPr/>
            <p:nvPr/>
          </p:nvCxnSpPr>
          <p:spPr>
            <a:xfrm>
              <a:off x="1247773" y="438195"/>
              <a:ext cx="0" cy="342805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88" name="Google Shape;188;p67"/>
            <p:cNvCxnSpPr/>
            <p:nvPr/>
          </p:nvCxnSpPr>
          <p:spPr>
            <a:xfrm rot="10800000">
              <a:off x="1247774" y="438149"/>
              <a:ext cx="0" cy="342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89" name="Google Shape;189;p67"/>
            <p:cNvCxnSpPr/>
            <p:nvPr/>
          </p:nvCxnSpPr>
          <p:spPr>
            <a:xfrm rot="10800000">
              <a:off x="1247779" y="438201"/>
              <a:ext cx="0" cy="342805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90" name="Google Shape;190;p67"/>
          <p:cNvGrpSpPr/>
          <p:nvPr/>
        </p:nvGrpSpPr>
        <p:grpSpPr>
          <a:xfrm>
            <a:off x="8960773" y="141497"/>
            <a:ext cx="8" cy="470666"/>
            <a:chOff x="1247773" y="438149"/>
            <a:chExt cx="6" cy="342901"/>
          </a:xfrm>
        </p:grpSpPr>
        <p:cxnSp>
          <p:nvCxnSpPr>
            <p:cNvPr id="191" name="Google Shape;191;p67"/>
            <p:cNvCxnSpPr/>
            <p:nvPr/>
          </p:nvCxnSpPr>
          <p:spPr>
            <a:xfrm>
              <a:off x="1247775" y="438150"/>
              <a:ext cx="0" cy="342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92" name="Google Shape;192;p67"/>
            <p:cNvCxnSpPr/>
            <p:nvPr/>
          </p:nvCxnSpPr>
          <p:spPr>
            <a:xfrm>
              <a:off x="1247773" y="438195"/>
              <a:ext cx="0" cy="342805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93" name="Google Shape;193;p67"/>
            <p:cNvCxnSpPr/>
            <p:nvPr/>
          </p:nvCxnSpPr>
          <p:spPr>
            <a:xfrm rot="10800000">
              <a:off x="1247774" y="438149"/>
              <a:ext cx="0" cy="342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94" name="Google Shape;194;p67"/>
            <p:cNvCxnSpPr/>
            <p:nvPr/>
          </p:nvCxnSpPr>
          <p:spPr>
            <a:xfrm rot="10800000">
              <a:off x="1247779" y="438201"/>
              <a:ext cx="0" cy="342805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95" name="Google Shape;195;p67"/>
          <p:cNvGrpSpPr/>
          <p:nvPr/>
        </p:nvGrpSpPr>
        <p:grpSpPr>
          <a:xfrm>
            <a:off x="32900" y="-58325"/>
            <a:ext cx="790200" cy="970600"/>
            <a:chOff x="121700" y="141500"/>
            <a:chExt cx="790200" cy="970600"/>
          </a:xfrm>
        </p:grpSpPr>
        <p:cxnSp>
          <p:nvCxnSpPr>
            <p:cNvPr id="196" name="Google Shape;196;p67"/>
            <p:cNvCxnSpPr/>
            <p:nvPr/>
          </p:nvCxnSpPr>
          <p:spPr>
            <a:xfrm flipH="1" rot="10800000">
              <a:off x="121700" y="322200"/>
              <a:ext cx="790200" cy="789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97" name="Google Shape;197;p67"/>
            <p:cNvCxnSpPr/>
            <p:nvPr/>
          </p:nvCxnSpPr>
          <p:spPr>
            <a:xfrm flipH="1" rot="10800000">
              <a:off x="362464" y="141500"/>
              <a:ext cx="442500" cy="4425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98" name="Google Shape;198;p67"/>
          <p:cNvSpPr/>
          <p:nvPr/>
        </p:nvSpPr>
        <p:spPr>
          <a:xfrm>
            <a:off x="-637504" y="4234163"/>
            <a:ext cx="1350600" cy="13506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9" name="Google Shape;199;p6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rot="10800000">
            <a:off x="1850" y="0"/>
            <a:ext cx="9140300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 ">
  <p:cSld name="CUSTOM_6_1"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1" name="Google Shape;201;p6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850" y="0"/>
            <a:ext cx="9140300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68"/>
          <p:cNvSpPr/>
          <p:nvPr/>
        </p:nvSpPr>
        <p:spPr>
          <a:xfrm>
            <a:off x="-963512" y="-22600"/>
            <a:ext cx="1965000" cy="19650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03" name="Google Shape;203;p68"/>
          <p:cNvGrpSpPr/>
          <p:nvPr/>
        </p:nvGrpSpPr>
        <p:grpSpPr>
          <a:xfrm>
            <a:off x="-147000" y="4505400"/>
            <a:ext cx="1084413" cy="789900"/>
            <a:chOff x="318000" y="4209150"/>
            <a:chExt cx="1084413" cy="789900"/>
          </a:xfrm>
        </p:grpSpPr>
        <p:cxnSp>
          <p:nvCxnSpPr>
            <p:cNvPr id="204" name="Google Shape;204;p68"/>
            <p:cNvCxnSpPr/>
            <p:nvPr/>
          </p:nvCxnSpPr>
          <p:spPr>
            <a:xfrm flipH="1" rot="10800000">
              <a:off x="318000" y="4209150"/>
              <a:ext cx="790200" cy="789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05" name="Google Shape;205;p68"/>
            <p:cNvCxnSpPr/>
            <p:nvPr/>
          </p:nvCxnSpPr>
          <p:spPr>
            <a:xfrm flipH="1" rot="10800000">
              <a:off x="959913" y="4209150"/>
              <a:ext cx="442500" cy="4425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206" name="Google Shape;206;p68"/>
          <p:cNvGrpSpPr/>
          <p:nvPr/>
        </p:nvGrpSpPr>
        <p:grpSpPr>
          <a:xfrm>
            <a:off x="8461950" y="195525"/>
            <a:ext cx="790200" cy="970600"/>
            <a:chOff x="4380675" y="1010050"/>
            <a:chExt cx="790200" cy="970600"/>
          </a:xfrm>
        </p:grpSpPr>
        <p:cxnSp>
          <p:nvCxnSpPr>
            <p:cNvPr id="207" name="Google Shape;207;p68"/>
            <p:cNvCxnSpPr/>
            <p:nvPr/>
          </p:nvCxnSpPr>
          <p:spPr>
            <a:xfrm flipH="1" rot="10800000">
              <a:off x="4380675" y="1190750"/>
              <a:ext cx="790200" cy="789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08" name="Google Shape;208;p68"/>
            <p:cNvCxnSpPr/>
            <p:nvPr/>
          </p:nvCxnSpPr>
          <p:spPr>
            <a:xfrm flipH="1" rot="10800000">
              <a:off x="4621439" y="1010050"/>
              <a:ext cx="442500" cy="4425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209" name="Google Shape;209;p68"/>
          <p:cNvSpPr/>
          <p:nvPr/>
        </p:nvSpPr>
        <p:spPr>
          <a:xfrm>
            <a:off x="8586096" y="2802475"/>
            <a:ext cx="1350600" cy="13506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68"/>
          <p:cNvSpPr txBox="1"/>
          <p:nvPr>
            <p:ph type="title"/>
          </p:nvPr>
        </p:nvSpPr>
        <p:spPr>
          <a:xfrm>
            <a:off x="720075" y="53940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11" name="Google Shape;211;p68"/>
          <p:cNvSpPr txBox="1"/>
          <p:nvPr>
            <p:ph idx="2" type="title"/>
          </p:nvPr>
        </p:nvSpPr>
        <p:spPr>
          <a:xfrm>
            <a:off x="898000" y="3307950"/>
            <a:ext cx="22548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212" name="Google Shape;212;p68"/>
          <p:cNvSpPr txBox="1"/>
          <p:nvPr>
            <p:ph idx="1" type="subTitle"/>
          </p:nvPr>
        </p:nvSpPr>
        <p:spPr>
          <a:xfrm>
            <a:off x="898000" y="3663900"/>
            <a:ext cx="2254800" cy="78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13" name="Google Shape;213;p68"/>
          <p:cNvSpPr txBox="1"/>
          <p:nvPr>
            <p:ph idx="3" type="title"/>
          </p:nvPr>
        </p:nvSpPr>
        <p:spPr>
          <a:xfrm>
            <a:off x="3444675" y="3307950"/>
            <a:ext cx="22548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214" name="Google Shape;214;p68"/>
          <p:cNvSpPr txBox="1"/>
          <p:nvPr>
            <p:ph idx="4" type="subTitle"/>
          </p:nvPr>
        </p:nvSpPr>
        <p:spPr>
          <a:xfrm>
            <a:off x="3444676" y="3663900"/>
            <a:ext cx="2254800" cy="78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15" name="Google Shape;215;p68"/>
          <p:cNvSpPr txBox="1"/>
          <p:nvPr>
            <p:ph idx="5" type="title"/>
          </p:nvPr>
        </p:nvSpPr>
        <p:spPr>
          <a:xfrm>
            <a:off x="5991400" y="3307950"/>
            <a:ext cx="22548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216" name="Google Shape;216;p68"/>
          <p:cNvSpPr txBox="1"/>
          <p:nvPr>
            <p:ph idx="6" type="subTitle"/>
          </p:nvPr>
        </p:nvSpPr>
        <p:spPr>
          <a:xfrm>
            <a:off x="5991401" y="3663900"/>
            <a:ext cx="2254800" cy="78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17" name="Google Shape;217;p68"/>
          <p:cNvSpPr txBox="1"/>
          <p:nvPr>
            <p:ph idx="7" type="title"/>
          </p:nvPr>
        </p:nvSpPr>
        <p:spPr>
          <a:xfrm>
            <a:off x="1502000" y="2235393"/>
            <a:ext cx="1046700" cy="44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24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218" name="Google Shape;218;p68"/>
          <p:cNvSpPr txBox="1"/>
          <p:nvPr>
            <p:ph idx="8" type="title"/>
          </p:nvPr>
        </p:nvSpPr>
        <p:spPr>
          <a:xfrm>
            <a:off x="4046975" y="2235468"/>
            <a:ext cx="1046700" cy="44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24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219" name="Google Shape;219;p68"/>
          <p:cNvSpPr txBox="1"/>
          <p:nvPr>
            <p:ph idx="9" type="title"/>
          </p:nvPr>
        </p:nvSpPr>
        <p:spPr>
          <a:xfrm>
            <a:off x="6591950" y="2235468"/>
            <a:ext cx="1046700" cy="44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24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lt2"/>
        </a:solidFill>
      </p:bgPr>
    </p:bg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1" name="Google Shape;221;p6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850" y="0"/>
            <a:ext cx="9140300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69"/>
          <p:cNvSpPr txBox="1"/>
          <p:nvPr>
            <p:ph hasCustomPrompt="1" type="title"/>
          </p:nvPr>
        </p:nvSpPr>
        <p:spPr>
          <a:xfrm>
            <a:off x="2579450" y="1819500"/>
            <a:ext cx="3984900" cy="100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7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223" name="Google Shape;223;p69"/>
          <p:cNvSpPr txBox="1"/>
          <p:nvPr>
            <p:ph idx="1" type="subTitle"/>
          </p:nvPr>
        </p:nvSpPr>
        <p:spPr>
          <a:xfrm>
            <a:off x="2579450" y="2826900"/>
            <a:ext cx="3984900" cy="49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224" name="Google Shape;224;p69"/>
          <p:cNvSpPr/>
          <p:nvPr/>
        </p:nvSpPr>
        <p:spPr>
          <a:xfrm>
            <a:off x="6706500" y="725275"/>
            <a:ext cx="2437500" cy="59892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69"/>
          <p:cNvSpPr/>
          <p:nvPr/>
        </p:nvSpPr>
        <p:spPr>
          <a:xfrm>
            <a:off x="-200" y="725275"/>
            <a:ext cx="2437500" cy="59892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69"/>
          <p:cNvSpPr/>
          <p:nvPr/>
        </p:nvSpPr>
        <p:spPr>
          <a:xfrm>
            <a:off x="3589388" y="-618250"/>
            <a:ext cx="1965000" cy="19650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27" name="Google Shape;227;p69"/>
          <p:cNvGrpSpPr/>
          <p:nvPr/>
        </p:nvGrpSpPr>
        <p:grpSpPr>
          <a:xfrm>
            <a:off x="5486850" y="4280725"/>
            <a:ext cx="790200" cy="970600"/>
            <a:chOff x="4380675" y="1010050"/>
            <a:chExt cx="790200" cy="970600"/>
          </a:xfrm>
        </p:grpSpPr>
        <p:cxnSp>
          <p:nvCxnSpPr>
            <p:cNvPr id="228" name="Google Shape;228;p69"/>
            <p:cNvCxnSpPr/>
            <p:nvPr/>
          </p:nvCxnSpPr>
          <p:spPr>
            <a:xfrm flipH="1" rot="10800000">
              <a:off x="4380675" y="1190750"/>
              <a:ext cx="790200" cy="789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29" name="Google Shape;229;p69"/>
            <p:cNvCxnSpPr/>
            <p:nvPr/>
          </p:nvCxnSpPr>
          <p:spPr>
            <a:xfrm flipH="1" rot="10800000">
              <a:off x="4621439" y="1010050"/>
              <a:ext cx="442500" cy="4425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230" name="Google Shape;230;p69"/>
          <p:cNvSpPr/>
          <p:nvPr/>
        </p:nvSpPr>
        <p:spPr>
          <a:xfrm>
            <a:off x="3896596" y="4225050"/>
            <a:ext cx="1350600" cy="13506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70"/>
          <p:cNvSpPr/>
          <p:nvPr/>
        </p:nvSpPr>
        <p:spPr>
          <a:xfrm>
            <a:off x="7929088" y="502800"/>
            <a:ext cx="1965000" cy="19650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33" name="Google Shape;233;p70"/>
          <p:cNvGrpSpPr/>
          <p:nvPr/>
        </p:nvGrpSpPr>
        <p:grpSpPr>
          <a:xfrm>
            <a:off x="-154400" y="4209150"/>
            <a:ext cx="1084413" cy="789900"/>
            <a:chOff x="318000" y="4209150"/>
            <a:chExt cx="1084413" cy="789900"/>
          </a:xfrm>
        </p:grpSpPr>
        <p:cxnSp>
          <p:nvCxnSpPr>
            <p:cNvPr id="234" name="Google Shape;234;p70"/>
            <p:cNvCxnSpPr/>
            <p:nvPr/>
          </p:nvCxnSpPr>
          <p:spPr>
            <a:xfrm flipH="1" rot="10800000">
              <a:off x="318000" y="4209150"/>
              <a:ext cx="790200" cy="789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35" name="Google Shape;235;p70"/>
            <p:cNvCxnSpPr/>
            <p:nvPr/>
          </p:nvCxnSpPr>
          <p:spPr>
            <a:xfrm flipH="1" rot="10800000">
              <a:off x="959913" y="4209150"/>
              <a:ext cx="442500" cy="4425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236" name="Google Shape;236;p70"/>
          <p:cNvSpPr/>
          <p:nvPr/>
        </p:nvSpPr>
        <p:spPr>
          <a:xfrm>
            <a:off x="-420579" y="1189100"/>
            <a:ext cx="1350600" cy="13506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70"/>
          <p:cNvSpPr txBox="1"/>
          <p:nvPr>
            <p:ph type="title"/>
          </p:nvPr>
        </p:nvSpPr>
        <p:spPr>
          <a:xfrm>
            <a:off x="720000" y="53940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38" name="Google Shape;238;p70"/>
          <p:cNvSpPr txBox="1"/>
          <p:nvPr>
            <p:ph idx="2" type="title"/>
          </p:nvPr>
        </p:nvSpPr>
        <p:spPr>
          <a:xfrm>
            <a:off x="1636338" y="2941350"/>
            <a:ext cx="26058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39" name="Google Shape;239;p70"/>
          <p:cNvSpPr txBox="1"/>
          <p:nvPr>
            <p:ph idx="3" type="title"/>
          </p:nvPr>
        </p:nvSpPr>
        <p:spPr>
          <a:xfrm>
            <a:off x="4901803" y="2941350"/>
            <a:ext cx="26058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40" name="Google Shape;240;p70"/>
          <p:cNvSpPr txBox="1"/>
          <p:nvPr>
            <p:ph idx="1" type="subTitle"/>
          </p:nvPr>
        </p:nvSpPr>
        <p:spPr>
          <a:xfrm>
            <a:off x="4901800" y="3266573"/>
            <a:ext cx="2605800" cy="101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0" sz="14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41" name="Google Shape;241;p70"/>
          <p:cNvSpPr txBox="1"/>
          <p:nvPr>
            <p:ph idx="4" type="subTitle"/>
          </p:nvPr>
        </p:nvSpPr>
        <p:spPr>
          <a:xfrm>
            <a:off x="1636338" y="3266573"/>
            <a:ext cx="2605800" cy="101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0" sz="14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pic>
        <p:nvPicPr>
          <p:cNvPr id="242" name="Google Shape;242;p7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flipH="1">
            <a:off x="1850" y="0"/>
            <a:ext cx="9140300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">
  <p:cSld name="CUSTOM"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4" name="Google Shape;244;p7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flipH="1">
            <a:off x="1850" y="0"/>
            <a:ext cx="9140300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71"/>
          <p:cNvSpPr/>
          <p:nvPr/>
        </p:nvSpPr>
        <p:spPr>
          <a:xfrm>
            <a:off x="7606188" y="-759025"/>
            <a:ext cx="1965000" cy="19650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46" name="Google Shape;246;p71"/>
          <p:cNvGrpSpPr/>
          <p:nvPr/>
        </p:nvGrpSpPr>
        <p:grpSpPr>
          <a:xfrm>
            <a:off x="-164675" y="539400"/>
            <a:ext cx="790200" cy="970600"/>
            <a:chOff x="121700" y="141500"/>
            <a:chExt cx="790200" cy="970600"/>
          </a:xfrm>
        </p:grpSpPr>
        <p:cxnSp>
          <p:nvCxnSpPr>
            <p:cNvPr id="247" name="Google Shape;247;p71"/>
            <p:cNvCxnSpPr/>
            <p:nvPr/>
          </p:nvCxnSpPr>
          <p:spPr>
            <a:xfrm flipH="1" rot="10800000">
              <a:off x="121700" y="322200"/>
              <a:ext cx="790200" cy="789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48" name="Google Shape;248;p71"/>
            <p:cNvCxnSpPr/>
            <p:nvPr/>
          </p:nvCxnSpPr>
          <p:spPr>
            <a:xfrm flipH="1" rot="10800000">
              <a:off x="362464" y="141500"/>
              <a:ext cx="442500" cy="4425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249" name="Google Shape;249;p71"/>
          <p:cNvGrpSpPr/>
          <p:nvPr/>
        </p:nvGrpSpPr>
        <p:grpSpPr>
          <a:xfrm>
            <a:off x="3686814" y="4447350"/>
            <a:ext cx="999136" cy="789900"/>
            <a:chOff x="-87236" y="322200"/>
            <a:chExt cx="999136" cy="789900"/>
          </a:xfrm>
        </p:grpSpPr>
        <p:cxnSp>
          <p:nvCxnSpPr>
            <p:cNvPr id="250" name="Google Shape;250;p71"/>
            <p:cNvCxnSpPr/>
            <p:nvPr/>
          </p:nvCxnSpPr>
          <p:spPr>
            <a:xfrm flipH="1" rot="10800000">
              <a:off x="121700" y="322200"/>
              <a:ext cx="790200" cy="789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51" name="Google Shape;251;p71"/>
            <p:cNvCxnSpPr/>
            <p:nvPr/>
          </p:nvCxnSpPr>
          <p:spPr>
            <a:xfrm flipH="1" rot="10800000">
              <a:off x="-87236" y="598650"/>
              <a:ext cx="442500" cy="4425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252" name="Google Shape;252;p71"/>
          <p:cNvSpPr/>
          <p:nvPr/>
        </p:nvSpPr>
        <p:spPr>
          <a:xfrm>
            <a:off x="1004496" y="4216338"/>
            <a:ext cx="1350600" cy="13506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71"/>
          <p:cNvSpPr txBox="1"/>
          <p:nvPr>
            <p:ph type="title"/>
          </p:nvPr>
        </p:nvSpPr>
        <p:spPr>
          <a:xfrm>
            <a:off x="713100" y="1078875"/>
            <a:ext cx="3120600" cy="2059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54" name="Google Shape;254;p71"/>
          <p:cNvSpPr txBox="1"/>
          <p:nvPr>
            <p:ph idx="1" type="subTitle"/>
          </p:nvPr>
        </p:nvSpPr>
        <p:spPr>
          <a:xfrm>
            <a:off x="713100" y="3137913"/>
            <a:ext cx="3852000" cy="9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1">
  <p:cSld name="CUSTOM_6_2"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" name="Google Shape;256;p7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flipH="1">
            <a:off x="1850" y="0"/>
            <a:ext cx="9140300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57" name="Google Shape;257;p72"/>
          <p:cNvSpPr/>
          <p:nvPr/>
        </p:nvSpPr>
        <p:spPr>
          <a:xfrm>
            <a:off x="-769812" y="-266875"/>
            <a:ext cx="1965000" cy="19650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72"/>
          <p:cNvSpPr/>
          <p:nvPr/>
        </p:nvSpPr>
        <p:spPr>
          <a:xfrm>
            <a:off x="8121646" y="2129000"/>
            <a:ext cx="1350600" cy="13506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p72"/>
          <p:cNvSpPr txBox="1"/>
          <p:nvPr>
            <p:ph type="title"/>
          </p:nvPr>
        </p:nvSpPr>
        <p:spPr>
          <a:xfrm>
            <a:off x="720075" y="53940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0" name="Google Shape;260;p72"/>
          <p:cNvSpPr txBox="1"/>
          <p:nvPr>
            <p:ph idx="2" type="title"/>
          </p:nvPr>
        </p:nvSpPr>
        <p:spPr>
          <a:xfrm>
            <a:off x="1773213" y="1227625"/>
            <a:ext cx="21753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261" name="Google Shape;261;p72"/>
          <p:cNvSpPr txBox="1"/>
          <p:nvPr>
            <p:ph idx="1" type="subTitle"/>
          </p:nvPr>
        </p:nvSpPr>
        <p:spPr>
          <a:xfrm>
            <a:off x="1773213" y="4020000"/>
            <a:ext cx="2175300" cy="66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62" name="Google Shape;262;p72"/>
          <p:cNvSpPr txBox="1"/>
          <p:nvPr>
            <p:ph idx="3" type="title"/>
          </p:nvPr>
        </p:nvSpPr>
        <p:spPr>
          <a:xfrm>
            <a:off x="5195483" y="1227625"/>
            <a:ext cx="21753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263" name="Google Shape;263;p72"/>
          <p:cNvSpPr txBox="1"/>
          <p:nvPr>
            <p:ph idx="4" type="subTitle"/>
          </p:nvPr>
        </p:nvSpPr>
        <p:spPr>
          <a:xfrm>
            <a:off x="5195487" y="4020000"/>
            <a:ext cx="2175300" cy="66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4"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5" name="Google Shape;265;p7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flipH="1" rot="10800000">
            <a:off x="1850" y="0"/>
            <a:ext cx="9140300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73"/>
          <p:cNvSpPr/>
          <p:nvPr/>
        </p:nvSpPr>
        <p:spPr>
          <a:xfrm>
            <a:off x="7448388" y="-681325"/>
            <a:ext cx="1965000" cy="19650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67" name="Google Shape;267;p73"/>
          <p:cNvGrpSpPr/>
          <p:nvPr/>
        </p:nvGrpSpPr>
        <p:grpSpPr>
          <a:xfrm>
            <a:off x="8199750" y="4337738"/>
            <a:ext cx="1084413" cy="789900"/>
            <a:chOff x="318000" y="4209150"/>
            <a:chExt cx="1084413" cy="789900"/>
          </a:xfrm>
        </p:grpSpPr>
        <p:cxnSp>
          <p:nvCxnSpPr>
            <p:cNvPr id="268" name="Google Shape;268;p73"/>
            <p:cNvCxnSpPr/>
            <p:nvPr/>
          </p:nvCxnSpPr>
          <p:spPr>
            <a:xfrm flipH="1" rot="10800000">
              <a:off x="318000" y="4209150"/>
              <a:ext cx="790200" cy="789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69" name="Google Shape;269;p73"/>
            <p:cNvCxnSpPr/>
            <p:nvPr/>
          </p:nvCxnSpPr>
          <p:spPr>
            <a:xfrm flipH="1" rot="10800000">
              <a:off x="959913" y="4209150"/>
              <a:ext cx="442500" cy="4425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270" name="Google Shape;270;p73"/>
          <p:cNvGrpSpPr/>
          <p:nvPr/>
        </p:nvGrpSpPr>
        <p:grpSpPr>
          <a:xfrm>
            <a:off x="4016200" y="-67600"/>
            <a:ext cx="790200" cy="970600"/>
            <a:chOff x="4380675" y="1010050"/>
            <a:chExt cx="790200" cy="970600"/>
          </a:xfrm>
        </p:grpSpPr>
        <p:cxnSp>
          <p:nvCxnSpPr>
            <p:cNvPr id="271" name="Google Shape;271;p73"/>
            <p:cNvCxnSpPr/>
            <p:nvPr/>
          </p:nvCxnSpPr>
          <p:spPr>
            <a:xfrm flipH="1" rot="10800000">
              <a:off x="4380675" y="1190750"/>
              <a:ext cx="790200" cy="789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72" name="Google Shape;272;p73"/>
            <p:cNvCxnSpPr/>
            <p:nvPr/>
          </p:nvCxnSpPr>
          <p:spPr>
            <a:xfrm flipH="1" rot="10800000">
              <a:off x="4621439" y="1010050"/>
              <a:ext cx="442500" cy="4425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273" name="Google Shape;273;p73"/>
          <p:cNvSpPr/>
          <p:nvPr/>
        </p:nvSpPr>
        <p:spPr>
          <a:xfrm>
            <a:off x="2346271" y="4337750"/>
            <a:ext cx="1350600" cy="13506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73"/>
          <p:cNvSpPr txBox="1"/>
          <p:nvPr>
            <p:ph type="title"/>
          </p:nvPr>
        </p:nvSpPr>
        <p:spPr>
          <a:xfrm>
            <a:off x="4806400" y="1874550"/>
            <a:ext cx="34971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75" name="Google Shape;275;p73"/>
          <p:cNvSpPr txBox="1"/>
          <p:nvPr>
            <p:ph idx="1" type="subTitle"/>
          </p:nvPr>
        </p:nvSpPr>
        <p:spPr>
          <a:xfrm>
            <a:off x="4806400" y="2447250"/>
            <a:ext cx="3497100" cy="82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3"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7" name="Google Shape;277;p7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rot="10800000">
            <a:off x="1850" y="0"/>
            <a:ext cx="9140300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74"/>
          <p:cNvSpPr/>
          <p:nvPr/>
        </p:nvSpPr>
        <p:spPr>
          <a:xfrm>
            <a:off x="-819762" y="-958925"/>
            <a:ext cx="1965000" cy="19650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p74"/>
          <p:cNvSpPr/>
          <p:nvPr/>
        </p:nvSpPr>
        <p:spPr>
          <a:xfrm>
            <a:off x="8676846" y="-344525"/>
            <a:ext cx="1350600" cy="13506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p74"/>
          <p:cNvSpPr/>
          <p:nvPr/>
        </p:nvSpPr>
        <p:spPr>
          <a:xfrm>
            <a:off x="2464421" y="4475500"/>
            <a:ext cx="1350600" cy="13506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74"/>
          <p:cNvSpPr txBox="1"/>
          <p:nvPr>
            <p:ph type="title"/>
          </p:nvPr>
        </p:nvSpPr>
        <p:spPr>
          <a:xfrm>
            <a:off x="713100" y="666396"/>
            <a:ext cx="3342600" cy="87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5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82" name="Google Shape;282;p74"/>
          <p:cNvSpPr txBox="1"/>
          <p:nvPr>
            <p:ph idx="1" type="subTitle"/>
          </p:nvPr>
        </p:nvSpPr>
        <p:spPr>
          <a:xfrm>
            <a:off x="713100" y="1539396"/>
            <a:ext cx="3342600" cy="133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83" name="Google Shape;283;p74"/>
          <p:cNvSpPr txBox="1"/>
          <p:nvPr/>
        </p:nvSpPr>
        <p:spPr>
          <a:xfrm>
            <a:off x="720000" y="3389788"/>
            <a:ext cx="3000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CREDITS: This presentation template was created by </a:t>
            </a:r>
            <a:r>
              <a:rPr b="1" i="0" lang="en" sz="1000" u="none" cap="none" strike="noStrike">
                <a:solidFill>
                  <a:schemeClr val="dk1"/>
                </a:solidFill>
                <a:uFill>
                  <a:noFill/>
                </a:uFill>
                <a:latin typeface="Karla"/>
                <a:ea typeface="Karla"/>
                <a:cs typeface="Karla"/>
                <a:sym typeface="Karla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b="0" i="0" lang="en" sz="1000" u="none" cap="none" strike="noStrik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, including icons by </a:t>
            </a:r>
            <a:r>
              <a:rPr b="1" i="0" lang="en" sz="1000" u="none" cap="none" strike="noStrike">
                <a:solidFill>
                  <a:schemeClr val="dk1"/>
                </a:solidFill>
                <a:uFill>
                  <a:noFill/>
                </a:uFill>
                <a:latin typeface="Karla"/>
                <a:ea typeface="Karla"/>
                <a:cs typeface="Karla"/>
                <a:sym typeface="Karla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b="1" i="0" lang="en" sz="1000" u="none" cap="none" strike="noStrik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 </a:t>
            </a:r>
            <a:r>
              <a:rPr b="0" i="0" lang="en" sz="1000" u="none" cap="none" strike="noStrik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and infographics &amp; images by </a:t>
            </a:r>
            <a:r>
              <a:rPr b="1" i="0" lang="en" sz="1000" u="none" cap="none" strike="noStrike">
                <a:solidFill>
                  <a:schemeClr val="dk1"/>
                </a:solidFill>
                <a:uFill>
                  <a:noFill/>
                </a:uFill>
                <a:latin typeface="Karla"/>
                <a:ea typeface="Karla"/>
                <a:cs typeface="Karla"/>
                <a:sym typeface="Karla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endParaRPr b="1" i="0" sz="1000" u="none" cap="none" strike="noStrike">
              <a:solidFill>
                <a:schemeClr val="dk1"/>
              </a:solidFill>
              <a:latin typeface="Karla"/>
              <a:ea typeface="Karla"/>
              <a:cs typeface="Karla"/>
              <a:sym typeface="Karla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5" name="Google Shape;285;p7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850" y="0"/>
            <a:ext cx="9140300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86" name="Google Shape;286;p75"/>
          <p:cNvSpPr/>
          <p:nvPr/>
        </p:nvSpPr>
        <p:spPr>
          <a:xfrm>
            <a:off x="7755663" y="3698800"/>
            <a:ext cx="1965000" cy="19650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87" name="Google Shape;287;p75"/>
          <p:cNvGrpSpPr/>
          <p:nvPr/>
        </p:nvGrpSpPr>
        <p:grpSpPr>
          <a:xfrm>
            <a:off x="720000" y="4604100"/>
            <a:ext cx="1084413" cy="789900"/>
            <a:chOff x="318000" y="4209150"/>
            <a:chExt cx="1084413" cy="789900"/>
          </a:xfrm>
        </p:grpSpPr>
        <p:cxnSp>
          <p:nvCxnSpPr>
            <p:cNvPr id="288" name="Google Shape;288;p75"/>
            <p:cNvCxnSpPr/>
            <p:nvPr/>
          </p:nvCxnSpPr>
          <p:spPr>
            <a:xfrm flipH="1" rot="10800000">
              <a:off x="318000" y="4209150"/>
              <a:ext cx="790200" cy="789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89" name="Google Shape;289;p75"/>
            <p:cNvCxnSpPr/>
            <p:nvPr/>
          </p:nvCxnSpPr>
          <p:spPr>
            <a:xfrm flipH="1" rot="10800000">
              <a:off x="959913" y="4209150"/>
              <a:ext cx="442500" cy="4425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290" name="Google Shape;290;p75"/>
          <p:cNvGrpSpPr/>
          <p:nvPr/>
        </p:nvGrpSpPr>
        <p:grpSpPr>
          <a:xfrm>
            <a:off x="8485950" y="1029988"/>
            <a:ext cx="790200" cy="970600"/>
            <a:chOff x="4380675" y="1010050"/>
            <a:chExt cx="790200" cy="970600"/>
          </a:xfrm>
        </p:grpSpPr>
        <p:cxnSp>
          <p:nvCxnSpPr>
            <p:cNvPr id="291" name="Google Shape;291;p75"/>
            <p:cNvCxnSpPr/>
            <p:nvPr/>
          </p:nvCxnSpPr>
          <p:spPr>
            <a:xfrm flipH="1" rot="10800000">
              <a:off x="4380675" y="1190750"/>
              <a:ext cx="790200" cy="789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92" name="Google Shape;292;p75"/>
            <p:cNvCxnSpPr/>
            <p:nvPr/>
          </p:nvCxnSpPr>
          <p:spPr>
            <a:xfrm flipH="1" rot="10800000">
              <a:off x="4621439" y="1010050"/>
              <a:ext cx="442500" cy="4425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293" name="Google Shape;293;p75"/>
          <p:cNvSpPr/>
          <p:nvPr/>
        </p:nvSpPr>
        <p:spPr>
          <a:xfrm>
            <a:off x="7533846" y="-575875"/>
            <a:ext cx="1350600" cy="13506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p75"/>
          <p:cNvSpPr/>
          <p:nvPr/>
        </p:nvSpPr>
        <p:spPr>
          <a:xfrm>
            <a:off x="-783604" y="0"/>
            <a:ext cx="1350600" cy="13506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p75"/>
          <p:cNvSpPr txBox="1"/>
          <p:nvPr>
            <p:ph type="title"/>
          </p:nvPr>
        </p:nvSpPr>
        <p:spPr>
          <a:xfrm>
            <a:off x="720000" y="53940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96" name="Google Shape;296;p75"/>
          <p:cNvSpPr txBox="1"/>
          <p:nvPr>
            <p:ph idx="1" type="body"/>
          </p:nvPr>
        </p:nvSpPr>
        <p:spPr>
          <a:xfrm>
            <a:off x="720000" y="1522250"/>
            <a:ext cx="3847500" cy="310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Char char="●"/>
              <a:defRPr sz="1200">
                <a:solidFill>
                  <a:srgbClr val="434343"/>
                </a:solidFill>
              </a:defRPr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○"/>
              <a:defRPr>
                <a:solidFill>
                  <a:srgbClr val="434343"/>
                </a:solidFill>
              </a:defRPr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■"/>
              <a:defRPr>
                <a:solidFill>
                  <a:srgbClr val="434343"/>
                </a:solidFill>
              </a:defRPr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●"/>
              <a:defRPr>
                <a:solidFill>
                  <a:srgbClr val="434343"/>
                </a:solidFill>
              </a:defRPr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○"/>
              <a:defRPr>
                <a:solidFill>
                  <a:srgbClr val="434343"/>
                </a:solidFill>
              </a:defRPr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■"/>
              <a:defRPr>
                <a:solidFill>
                  <a:srgbClr val="434343"/>
                </a:solidFill>
              </a:defRPr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●"/>
              <a:defRPr>
                <a:solidFill>
                  <a:srgbClr val="434343"/>
                </a:solidFill>
              </a:defRPr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○"/>
              <a:defRPr>
                <a:solidFill>
                  <a:srgbClr val="434343"/>
                </a:solidFill>
              </a:defRPr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434343"/>
              </a:buClr>
              <a:buSzPts val="1200"/>
              <a:buFont typeface="Roboto Condensed Light"/>
              <a:buChar char="■"/>
              <a:defRPr>
                <a:solidFill>
                  <a:srgbClr val="434343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lt1"/>
        </a:solidFill>
      </p:bgPr>
    </p:bg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9">
    <p:bg>
      <p:bgPr>
        <a:solidFill>
          <a:schemeClr val="lt2"/>
        </a:solidFill>
      </p:bgPr>
    </p:bg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9" name="Google Shape;299;p8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flipH="1" rot="10800000">
            <a:off x="1850" y="0"/>
            <a:ext cx="9140300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80"/>
          <p:cNvSpPr/>
          <p:nvPr/>
        </p:nvSpPr>
        <p:spPr>
          <a:xfrm>
            <a:off x="6516000" y="725275"/>
            <a:ext cx="2437500" cy="59892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p80"/>
          <p:cNvSpPr/>
          <p:nvPr/>
        </p:nvSpPr>
        <p:spPr>
          <a:xfrm>
            <a:off x="190300" y="725275"/>
            <a:ext cx="2437500" cy="59892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p80"/>
          <p:cNvSpPr/>
          <p:nvPr/>
        </p:nvSpPr>
        <p:spPr>
          <a:xfrm>
            <a:off x="3589388" y="-618250"/>
            <a:ext cx="1965000" cy="19650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03" name="Google Shape;303;p80"/>
          <p:cNvGrpSpPr/>
          <p:nvPr/>
        </p:nvGrpSpPr>
        <p:grpSpPr>
          <a:xfrm>
            <a:off x="5486850" y="4280725"/>
            <a:ext cx="790200" cy="970600"/>
            <a:chOff x="4380675" y="1010050"/>
            <a:chExt cx="790200" cy="970600"/>
          </a:xfrm>
        </p:grpSpPr>
        <p:cxnSp>
          <p:nvCxnSpPr>
            <p:cNvPr id="304" name="Google Shape;304;p80"/>
            <p:cNvCxnSpPr/>
            <p:nvPr/>
          </p:nvCxnSpPr>
          <p:spPr>
            <a:xfrm flipH="1" rot="10800000">
              <a:off x="4380675" y="1190750"/>
              <a:ext cx="790200" cy="789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05" name="Google Shape;305;p80"/>
            <p:cNvCxnSpPr/>
            <p:nvPr/>
          </p:nvCxnSpPr>
          <p:spPr>
            <a:xfrm flipH="1" rot="10800000">
              <a:off x="4621439" y="1010050"/>
              <a:ext cx="442500" cy="4425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306" name="Google Shape;306;p80"/>
          <p:cNvSpPr/>
          <p:nvPr/>
        </p:nvSpPr>
        <p:spPr>
          <a:xfrm>
            <a:off x="3896596" y="4225050"/>
            <a:ext cx="1350600" cy="13506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9_1"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8" name="Google Shape;308;p8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rot="10800000">
            <a:off x="1850" y="0"/>
            <a:ext cx="9140300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p81"/>
          <p:cNvSpPr/>
          <p:nvPr/>
        </p:nvSpPr>
        <p:spPr>
          <a:xfrm>
            <a:off x="8459213" y="433400"/>
            <a:ext cx="1965000" cy="19650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10" name="Google Shape;310;p81"/>
          <p:cNvGrpSpPr/>
          <p:nvPr/>
        </p:nvGrpSpPr>
        <p:grpSpPr>
          <a:xfrm>
            <a:off x="6506275" y="4543600"/>
            <a:ext cx="987763" cy="789900"/>
            <a:chOff x="-120525" y="4543600"/>
            <a:chExt cx="987763" cy="789900"/>
          </a:xfrm>
        </p:grpSpPr>
        <p:cxnSp>
          <p:nvCxnSpPr>
            <p:cNvPr id="311" name="Google Shape;311;p81"/>
            <p:cNvCxnSpPr/>
            <p:nvPr/>
          </p:nvCxnSpPr>
          <p:spPr>
            <a:xfrm flipH="1" rot="10800000">
              <a:off x="-120525" y="4543600"/>
              <a:ext cx="790200" cy="789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12" name="Google Shape;312;p81"/>
            <p:cNvCxnSpPr/>
            <p:nvPr/>
          </p:nvCxnSpPr>
          <p:spPr>
            <a:xfrm flipH="1" rot="10800000">
              <a:off x="424738" y="4642975"/>
              <a:ext cx="442500" cy="4425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313" name="Google Shape;313;p81"/>
          <p:cNvGrpSpPr/>
          <p:nvPr/>
        </p:nvGrpSpPr>
        <p:grpSpPr>
          <a:xfrm>
            <a:off x="819025" y="-116125"/>
            <a:ext cx="790200" cy="970600"/>
            <a:chOff x="8111950" y="-116125"/>
            <a:chExt cx="790200" cy="970600"/>
          </a:xfrm>
        </p:grpSpPr>
        <p:cxnSp>
          <p:nvCxnSpPr>
            <p:cNvPr id="314" name="Google Shape;314;p81"/>
            <p:cNvCxnSpPr/>
            <p:nvPr/>
          </p:nvCxnSpPr>
          <p:spPr>
            <a:xfrm flipH="1" rot="10800000">
              <a:off x="8111950" y="64575"/>
              <a:ext cx="790200" cy="789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15" name="Google Shape;315;p81"/>
            <p:cNvCxnSpPr/>
            <p:nvPr/>
          </p:nvCxnSpPr>
          <p:spPr>
            <a:xfrm flipH="1" rot="10800000">
              <a:off x="8352714" y="-116125"/>
              <a:ext cx="442500" cy="4425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316" name="Google Shape;316;p81"/>
          <p:cNvSpPr/>
          <p:nvPr/>
        </p:nvSpPr>
        <p:spPr>
          <a:xfrm>
            <a:off x="3957371" y="4645300"/>
            <a:ext cx="1350600" cy="13506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17" name="Google Shape;317;p81"/>
          <p:cNvGrpSpPr/>
          <p:nvPr/>
        </p:nvGrpSpPr>
        <p:grpSpPr>
          <a:xfrm>
            <a:off x="8959698" y="3644447"/>
            <a:ext cx="8" cy="470666"/>
            <a:chOff x="1247773" y="438149"/>
            <a:chExt cx="6" cy="342901"/>
          </a:xfrm>
        </p:grpSpPr>
        <p:cxnSp>
          <p:nvCxnSpPr>
            <p:cNvPr id="318" name="Google Shape;318;p81"/>
            <p:cNvCxnSpPr/>
            <p:nvPr/>
          </p:nvCxnSpPr>
          <p:spPr>
            <a:xfrm>
              <a:off x="1247775" y="438150"/>
              <a:ext cx="0" cy="342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19" name="Google Shape;319;p81"/>
            <p:cNvCxnSpPr/>
            <p:nvPr/>
          </p:nvCxnSpPr>
          <p:spPr>
            <a:xfrm>
              <a:off x="1247773" y="438195"/>
              <a:ext cx="0" cy="342805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20" name="Google Shape;320;p81"/>
            <p:cNvCxnSpPr/>
            <p:nvPr/>
          </p:nvCxnSpPr>
          <p:spPr>
            <a:xfrm rot="10800000">
              <a:off x="1247774" y="438149"/>
              <a:ext cx="0" cy="342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21" name="Google Shape;321;p81"/>
            <p:cNvCxnSpPr/>
            <p:nvPr/>
          </p:nvCxnSpPr>
          <p:spPr>
            <a:xfrm rot="10800000">
              <a:off x="1247779" y="438201"/>
              <a:ext cx="0" cy="342805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322" name="Google Shape;322;p81"/>
          <p:cNvSpPr/>
          <p:nvPr/>
        </p:nvSpPr>
        <p:spPr>
          <a:xfrm>
            <a:off x="-787829" y="1349050"/>
            <a:ext cx="1350600" cy="13506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23" name="Google Shape;323;p81"/>
          <p:cNvGrpSpPr/>
          <p:nvPr/>
        </p:nvGrpSpPr>
        <p:grpSpPr>
          <a:xfrm>
            <a:off x="190348" y="4645297"/>
            <a:ext cx="8" cy="470666"/>
            <a:chOff x="1247773" y="438149"/>
            <a:chExt cx="6" cy="342901"/>
          </a:xfrm>
        </p:grpSpPr>
        <p:cxnSp>
          <p:nvCxnSpPr>
            <p:cNvPr id="324" name="Google Shape;324;p81"/>
            <p:cNvCxnSpPr/>
            <p:nvPr/>
          </p:nvCxnSpPr>
          <p:spPr>
            <a:xfrm>
              <a:off x="1247775" y="438150"/>
              <a:ext cx="0" cy="342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25" name="Google Shape;325;p81"/>
            <p:cNvCxnSpPr/>
            <p:nvPr/>
          </p:nvCxnSpPr>
          <p:spPr>
            <a:xfrm>
              <a:off x="1247773" y="438195"/>
              <a:ext cx="0" cy="342805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26" name="Google Shape;326;p81"/>
            <p:cNvCxnSpPr/>
            <p:nvPr/>
          </p:nvCxnSpPr>
          <p:spPr>
            <a:xfrm rot="10800000">
              <a:off x="1247774" y="438149"/>
              <a:ext cx="0" cy="342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27" name="Google Shape;327;p81"/>
            <p:cNvCxnSpPr/>
            <p:nvPr/>
          </p:nvCxnSpPr>
          <p:spPr>
            <a:xfrm rot="10800000">
              <a:off x="1247779" y="438201"/>
              <a:ext cx="0" cy="342805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2">
  <p:cSld name="CUSTOM_9_2">
    <p:bg>
      <p:bgPr>
        <a:solidFill>
          <a:schemeClr val="lt2"/>
        </a:solidFill>
      </p:bgPr>
    </p:bg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9" name="Google Shape;329;p8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flipH="1">
            <a:off x="1850" y="0"/>
            <a:ext cx="9140300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330" name="Google Shape;330;p82"/>
          <p:cNvSpPr/>
          <p:nvPr/>
        </p:nvSpPr>
        <p:spPr>
          <a:xfrm>
            <a:off x="1501606" y="2571750"/>
            <a:ext cx="6141000" cy="32145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" name="Google Shape;331;p82"/>
          <p:cNvSpPr/>
          <p:nvPr/>
        </p:nvSpPr>
        <p:spPr>
          <a:xfrm>
            <a:off x="-566737" y="735825"/>
            <a:ext cx="1965000" cy="19650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32" name="Google Shape;332;p82"/>
          <p:cNvGrpSpPr/>
          <p:nvPr/>
        </p:nvGrpSpPr>
        <p:grpSpPr>
          <a:xfrm>
            <a:off x="-81650" y="3876125"/>
            <a:ext cx="1084413" cy="789900"/>
            <a:chOff x="318000" y="4209150"/>
            <a:chExt cx="1084413" cy="789900"/>
          </a:xfrm>
        </p:grpSpPr>
        <p:cxnSp>
          <p:nvCxnSpPr>
            <p:cNvPr id="333" name="Google Shape;333;p82"/>
            <p:cNvCxnSpPr/>
            <p:nvPr/>
          </p:nvCxnSpPr>
          <p:spPr>
            <a:xfrm flipH="1" rot="10800000">
              <a:off x="318000" y="4209150"/>
              <a:ext cx="790200" cy="789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34" name="Google Shape;334;p82"/>
            <p:cNvCxnSpPr/>
            <p:nvPr/>
          </p:nvCxnSpPr>
          <p:spPr>
            <a:xfrm flipH="1" rot="10800000">
              <a:off x="959913" y="4209150"/>
              <a:ext cx="442500" cy="4425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335" name="Google Shape;335;p82"/>
          <p:cNvSpPr/>
          <p:nvPr/>
        </p:nvSpPr>
        <p:spPr>
          <a:xfrm>
            <a:off x="8543496" y="1152100"/>
            <a:ext cx="1350600" cy="13506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3">
  <p:cSld name="CUSTOM_9_3"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7" name="Google Shape;337;p8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850" y="0"/>
            <a:ext cx="9140300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oogle Shape;338;p83"/>
          <p:cNvSpPr/>
          <p:nvPr/>
        </p:nvSpPr>
        <p:spPr>
          <a:xfrm>
            <a:off x="7755663" y="3698800"/>
            <a:ext cx="1965000" cy="19650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39" name="Google Shape;339;p83"/>
          <p:cNvGrpSpPr/>
          <p:nvPr/>
        </p:nvGrpSpPr>
        <p:grpSpPr>
          <a:xfrm>
            <a:off x="720000" y="4604100"/>
            <a:ext cx="1084413" cy="789900"/>
            <a:chOff x="318000" y="4209150"/>
            <a:chExt cx="1084413" cy="789900"/>
          </a:xfrm>
        </p:grpSpPr>
        <p:cxnSp>
          <p:nvCxnSpPr>
            <p:cNvPr id="340" name="Google Shape;340;p83"/>
            <p:cNvCxnSpPr/>
            <p:nvPr/>
          </p:nvCxnSpPr>
          <p:spPr>
            <a:xfrm flipH="1" rot="10800000">
              <a:off x="318000" y="4209150"/>
              <a:ext cx="790200" cy="789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41" name="Google Shape;341;p83"/>
            <p:cNvCxnSpPr/>
            <p:nvPr/>
          </p:nvCxnSpPr>
          <p:spPr>
            <a:xfrm flipH="1" rot="10800000">
              <a:off x="959913" y="4209150"/>
              <a:ext cx="442500" cy="4425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342" name="Google Shape;342;p83"/>
          <p:cNvGrpSpPr/>
          <p:nvPr/>
        </p:nvGrpSpPr>
        <p:grpSpPr>
          <a:xfrm>
            <a:off x="8485950" y="1029988"/>
            <a:ext cx="790200" cy="970600"/>
            <a:chOff x="4380675" y="1010050"/>
            <a:chExt cx="790200" cy="970600"/>
          </a:xfrm>
        </p:grpSpPr>
        <p:cxnSp>
          <p:nvCxnSpPr>
            <p:cNvPr id="343" name="Google Shape;343;p83"/>
            <p:cNvCxnSpPr/>
            <p:nvPr/>
          </p:nvCxnSpPr>
          <p:spPr>
            <a:xfrm flipH="1" rot="10800000">
              <a:off x="4380675" y="1190750"/>
              <a:ext cx="790200" cy="789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44" name="Google Shape;344;p83"/>
            <p:cNvCxnSpPr/>
            <p:nvPr/>
          </p:nvCxnSpPr>
          <p:spPr>
            <a:xfrm flipH="1" rot="10800000">
              <a:off x="4621439" y="1010050"/>
              <a:ext cx="442500" cy="4425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345" name="Google Shape;345;p83"/>
          <p:cNvSpPr/>
          <p:nvPr/>
        </p:nvSpPr>
        <p:spPr>
          <a:xfrm>
            <a:off x="7533846" y="-575875"/>
            <a:ext cx="1350600" cy="13506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" name="Google Shape;346;p83"/>
          <p:cNvSpPr/>
          <p:nvPr/>
        </p:nvSpPr>
        <p:spPr>
          <a:xfrm>
            <a:off x="-783604" y="0"/>
            <a:ext cx="1350600" cy="13506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theme" Target="../theme/theme2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2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53"/>
          <p:cNvSpPr txBox="1"/>
          <p:nvPr>
            <p:ph type="title"/>
          </p:nvPr>
        </p:nvSpPr>
        <p:spPr>
          <a:xfrm>
            <a:off x="713100" y="539400"/>
            <a:ext cx="77178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Yeseva One"/>
              <a:buNone/>
              <a:defRPr b="0" i="0" sz="3000" u="none" cap="none" strike="noStrike">
                <a:solidFill>
                  <a:schemeClr val="accent1"/>
                </a:solidFill>
                <a:latin typeface="Yeseva One"/>
                <a:ea typeface="Yeseva One"/>
                <a:cs typeface="Yeseva One"/>
                <a:sym typeface="Yeseva One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Yeseva One"/>
              <a:buNone/>
              <a:defRPr b="0" i="0" sz="3000" u="none" cap="none" strike="noStrike">
                <a:solidFill>
                  <a:schemeClr val="accent1"/>
                </a:solidFill>
                <a:latin typeface="Yeseva One"/>
                <a:ea typeface="Yeseva One"/>
                <a:cs typeface="Yeseva One"/>
                <a:sym typeface="Yeseva One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Yeseva One"/>
              <a:buNone/>
              <a:defRPr b="0" i="0" sz="3000" u="none" cap="none" strike="noStrike">
                <a:solidFill>
                  <a:schemeClr val="accent1"/>
                </a:solidFill>
                <a:latin typeface="Yeseva One"/>
                <a:ea typeface="Yeseva One"/>
                <a:cs typeface="Yeseva One"/>
                <a:sym typeface="Yeseva One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Yeseva One"/>
              <a:buNone/>
              <a:defRPr b="0" i="0" sz="3000" u="none" cap="none" strike="noStrike">
                <a:solidFill>
                  <a:schemeClr val="accent1"/>
                </a:solidFill>
                <a:latin typeface="Yeseva One"/>
                <a:ea typeface="Yeseva One"/>
                <a:cs typeface="Yeseva One"/>
                <a:sym typeface="Yeseva One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Yeseva One"/>
              <a:buNone/>
              <a:defRPr b="0" i="0" sz="3000" u="none" cap="none" strike="noStrike">
                <a:solidFill>
                  <a:schemeClr val="accent1"/>
                </a:solidFill>
                <a:latin typeface="Yeseva One"/>
                <a:ea typeface="Yeseva One"/>
                <a:cs typeface="Yeseva One"/>
                <a:sym typeface="Yeseva One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Yeseva One"/>
              <a:buNone/>
              <a:defRPr b="0" i="0" sz="3000" u="none" cap="none" strike="noStrike">
                <a:solidFill>
                  <a:schemeClr val="accent1"/>
                </a:solidFill>
                <a:latin typeface="Yeseva One"/>
                <a:ea typeface="Yeseva One"/>
                <a:cs typeface="Yeseva One"/>
                <a:sym typeface="Yeseva One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Yeseva One"/>
              <a:buNone/>
              <a:defRPr b="0" i="0" sz="3000" u="none" cap="none" strike="noStrike">
                <a:solidFill>
                  <a:schemeClr val="accent1"/>
                </a:solidFill>
                <a:latin typeface="Yeseva One"/>
                <a:ea typeface="Yeseva One"/>
                <a:cs typeface="Yeseva One"/>
                <a:sym typeface="Yeseva One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Yeseva One"/>
              <a:buNone/>
              <a:defRPr b="0" i="0" sz="3000" u="none" cap="none" strike="noStrike">
                <a:solidFill>
                  <a:schemeClr val="accent1"/>
                </a:solidFill>
                <a:latin typeface="Yeseva One"/>
                <a:ea typeface="Yeseva One"/>
                <a:cs typeface="Yeseva One"/>
                <a:sym typeface="Yeseva One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Yeseva One"/>
              <a:buNone/>
              <a:defRPr b="0" i="0" sz="3000" u="none" cap="none" strike="noStrike">
                <a:solidFill>
                  <a:schemeClr val="accent1"/>
                </a:solidFill>
                <a:latin typeface="Yeseva One"/>
                <a:ea typeface="Yeseva One"/>
                <a:cs typeface="Yeseva One"/>
                <a:sym typeface="Yeseva One"/>
              </a:defRPr>
            </a:lvl9pPr>
          </a:lstStyle>
          <a:p/>
        </p:txBody>
      </p:sp>
      <p:sp>
        <p:nvSpPr>
          <p:cNvPr id="7" name="Google Shape;7;p53"/>
          <p:cNvSpPr txBox="1"/>
          <p:nvPr>
            <p:ph idx="1" type="body"/>
          </p:nvPr>
        </p:nvSpPr>
        <p:spPr>
          <a:xfrm>
            <a:off x="713100" y="1152475"/>
            <a:ext cx="77178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●"/>
              <a:defRPr b="0" i="0" sz="1400" u="none" cap="none" strike="noStrik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○"/>
              <a:defRPr b="0" i="0" sz="1400" u="none" cap="none" strike="noStrik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■"/>
              <a:defRPr b="0" i="0" sz="1400" u="none" cap="none" strike="noStrik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●"/>
              <a:defRPr b="0" i="0" sz="1400" u="none" cap="none" strike="noStrik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○"/>
              <a:defRPr b="0" i="0" sz="1400" u="none" cap="none" strike="noStrik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■"/>
              <a:defRPr b="0" i="0" sz="1400" u="none" cap="none" strike="noStrik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●"/>
              <a:defRPr b="0" i="0" sz="1400" u="none" cap="none" strike="noStrik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○"/>
              <a:defRPr b="0" i="0" sz="1400" u="none" cap="none" strike="noStrik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Karla"/>
              <a:buChar char="■"/>
              <a:defRPr b="0" i="0" sz="1400" u="none" cap="none" strike="noStrik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3.png"/><Relationship Id="rId4" Type="http://schemas.openxmlformats.org/officeDocument/2006/relationships/image" Target="../media/image9.png"/><Relationship Id="rId5" Type="http://schemas.openxmlformats.org/officeDocument/2006/relationships/image" Target="../media/image18.png"/><Relationship Id="rId6" Type="http://schemas.openxmlformats.org/officeDocument/2006/relationships/image" Target="../media/image4.png"/><Relationship Id="rId7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png"/><Relationship Id="rId4" Type="http://schemas.openxmlformats.org/officeDocument/2006/relationships/image" Target="../media/image8.png"/><Relationship Id="rId5" Type="http://schemas.openxmlformats.org/officeDocument/2006/relationships/image" Target="../media/image1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6.png"/><Relationship Id="rId4" Type="http://schemas.openxmlformats.org/officeDocument/2006/relationships/image" Target="../media/image15.png"/><Relationship Id="rId5" Type="http://schemas.openxmlformats.org/officeDocument/2006/relationships/image" Target="../media/image19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7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6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0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1"/>
          <p:cNvSpPr txBox="1"/>
          <p:nvPr>
            <p:ph type="ctrTitle"/>
          </p:nvPr>
        </p:nvSpPr>
        <p:spPr>
          <a:xfrm>
            <a:off x="1181875" y="822600"/>
            <a:ext cx="6950400" cy="2614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" sz="5600">
                <a:solidFill>
                  <a:schemeClr val="accent1"/>
                </a:solidFill>
              </a:rPr>
              <a:t>Are you </a:t>
            </a:r>
            <a:r>
              <a:rPr lang="en" sz="5600">
                <a:solidFill>
                  <a:srgbClr val="6AA84F"/>
                </a:solidFill>
              </a:rPr>
              <a:t>hungry</a:t>
            </a:r>
            <a:r>
              <a:rPr lang="en" sz="5600">
                <a:solidFill>
                  <a:schemeClr val="accent1"/>
                </a:solidFill>
              </a:rPr>
              <a:t> and </a:t>
            </a:r>
            <a:r>
              <a:rPr lang="en" sz="5600">
                <a:solidFill>
                  <a:srgbClr val="6AA84F"/>
                </a:solidFill>
              </a:rPr>
              <a:t>in a hurry</a:t>
            </a:r>
            <a:r>
              <a:rPr lang="en" sz="5600">
                <a:solidFill>
                  <a:schemeClr val="accent1"/>
                </a:solidFill>
              </a:rPr>
              <a:t> to get to class?</a:t>
            </a:r>
            <a:endParaRPr sz="2800">
              <a:solidFill>
                <a:schemeClr val="dk1"/>
              </a:solidFill>
            </a:endParaRPr>
          </a:p>
        </p:txBody>
      </p:sp>
      <p:grpSp>
        <p:nvGrpSpPr>
          <p:cNvPr id="352" name="Google Shape;352;p1"/>
          <p:cNvGrpSpPr/>
          <p:nvPr/>
        </p:nvGrpSpPr>
        <p:grpSpPr>
          <a:xfrm>
            <a:off x="7942187" y="4513862"/>
            <a:ext cx="4" cy="257176"/>
            <a:chOff x="1247773" y="438149"/>
            <a:chExt cx="6" cy="342901"/>
          </a:xfrm>
        </p:grpSpPr>
        <p:cxnSp>
          <p:nvCxnSpPr>
            <p:cNvPr id="353" name="Google Shape;353;p1"/>
            <p:cNvCxnSpPr/>
            <p:nvPr/>
          </p:nvCxnSpPr>
          <p:spPr>
            <a:xfrm>
              <a:off x="1247775" y="438150"/>
              <a:ext cx="0" cy="342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54" name="Google Shape;354;p1"/>
            <p:cNvCxnSpPr/>
            <p:nvPr/>
          </p:nvCxnSpPr>
          <p:spPr>
            <a:xfrm>
              <a:off x="1247773" y="438195"/>
              <a:ext cx="0" cy="342805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55" name="Google Shape;355;p1"/>
            <p:cNvCxnSpPr/>
            <p:nvPr/>
          </p:nvCxnSpPr>
          <p:spPr>
            <a:xfrm rot="10800000">
              <a:off x="1247774" y="438149"/>
              <a:ext cx="0" cy="342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56" name="Google Shape;356;p1"/>
            <p:cNvCxnSpPr/>
            <p:nvPr/>
          </p:nvCxnSpPr>
          <p:spPr>
            <a:xfrm rot="10800000">
              <a:off x="1247779" y="438201"/>
              <a:ext cx="0" cy="342805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357" name="Google Shape;357;p1"/>
          <p:cNvGrpSpPr/>
          <p:nvPr/>
        </p:nvGrpSpPr>
        <p:grpSpPr>
          <a:xfrm>
            <a:off x="330712" y="4110662"/>
            <a:ext cx="5" cy="257176"/>
            <a:chOff x="1247773" y="438149"/>
            <a:chExt cx="6" cy="342901"/>
          </a:xfrm>
        </p:grpSpPr>
        <p:cxnSp>
          <p:nvCxnSpPr>
            <p:cNvPr id="358" name="Google Shape;358;p1"/>
            <p:cNvCxnSpPr/>
            <p:nvPr/>
          </p:nvCxnSpPr>
          <p:spPr>
            <a:xfrm>
              <a:off x="1247775" y="438150"/>
              <a:ext cx="0" cy="342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59" name="Google Shape;359;p1"/>
            <p:cNvCxnSpPr/>
            <p:nvPr/>
          </p:nvCxnSpPr>
          <p:spPr>
            <a:xfrm>
              <a:off x="1247773" y="438195"/>
              <a:ext cx="0" cy="342805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60" name="Google Shape;360;p1"/>
            <p:cNvCxnSpPr/>
            <p:nvPr/>
          </p:nvCxnSpPr>
          <p:spPr>
            <a:xfrm rot="10800000">
              <a:off x="1247774" y="438149"/>
              <a:ext cx="0" cy="342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61" name="Google Shape;361;p1"/>
            <p:cNvCxnSpPr/>
            <p:nvPr/>
          </p:nvCxnSpPr>
          <p:spPr>
            <a:xfrm rot="10800000">
              <a:off x="1247779" y="438201"/>
              <a:ext cx="0" cy="342805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362" name="Google Shape;362;p1"/>
          <p:cNvGrpSpPr/>
          <p:nvPr/>
        </p:nvGrpSpPr>
        <p:grpSpPr>
          <a:xfrm>
            <a:off x="642000" y="238125"/>
            <a:ext cx="790200" cy="970600"/>
            <a:chOff x="121700" y="141500"/>
            <a:chExt cx="790200" cy="970600"/>
          </a:xfrm>
        </p:grpSpPr>
        <p:cxnSp>
          <p:nvCxnSpPr>
            <p:cNvPr id="363" name="Google Shape;363;p1"/>
            <p:cNvCxnSpPr/>
            <p:nvPr/>
          </p:nvCxnSpPr>
          <p:spPr>
            <a:xfrm flipH="1" rot="10800000">
              <a:off x="121700" y="322200"/>
              <a:ext cx="790200" cy="789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64" name="Google Shape;364;p1"/>
            <p:cNvCxnSpPr/>
            <p:nvPr/>
          </p:nvCxnSpPr>
          <p:spPr>
            <a:xfrm flipH="1" rot="10800000">
              <a:off x="362464" y="141500"/>
              <a:ext cx="442500" cy="4425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365" name="Google Shape;365;p1"/>
          <p:cNvGrpSpPr/>
          <p:nvPr/>
        </p:nvGrpSpPr>
        <p:grpSpPr>
          <a:xfrm>
            <a:off x="7862164" y="552600"/>
            <a:ext cx="846736" cy="789900"/>
            <a:chOff x="65164" y="322200"/>
            <a:chExt cx="846736" cy="789900"/>
          </a:xfrm>
        </p:grpSpPr>
        <p:cxnSp>
          <p:nvCxnSpPr>
            <p:cNvPr id="366" name="Google Shape;366;p1"/>
            <p:cNvCxnSpPr/>
            <p:nvPr/>
          </p:nvCxnSpPr>
          <p:spPr>
            <a:xfrm flipH="1" rot="10800000">
              <a:off x="121700" y="322200"/>
              <a:ext cx="790200" cy="789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67" name="Google Shape;367;p1"/>
            <p:cNvCxnSpPr/>
            <p:nvPr/>
          </p:nvCxnSpPr>
          <p:spPr>
            <a:xfrm flipH="1" rot="10800000">
              <a:off x="65164" y="446250"/>
              <a:ext cx="442500" cy="4425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2"/>
          <p:cNvSpPr/>
          <p:nvPr/>
        </p:nvSpPr>
        <p:spPr>
          <a:xfrm>
            <a:off x="233600" y="1102275"/>
            <a:ext cx="3048900" cy="2852400"/>
          </a:xfrm>
          <a:prstGeom prst="ellipse">
            <a:avLst/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373" name="Google Shape;373;p2"/>
          <p:cNvSpPr txBox="1"/>
          <p:nvPr>
            <p:ph type="ctrTitle"/>
          </p:nvPr>
        </p:nvSpPr>
        <p:spPr>
          <a:xfrm>
            <a:off x="3326850" y="630425"/>
            <a:ext cx="4226100" cy="2614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" sz="5600">
                <a:solidFill>
                  <a:srgbClr val="6AA84F"/>
                </a:solidFill>
              </a:rPr>
              <a:t>Meal</a:t>
            </a:r>
            <a:r>
              <a:rPr lang="en" sz="5600">
                <a:solidFill>
                  <a:schemeClr val="accent1"/>
                </a:solidFill>
              </a:rPr>
              <a:t> Vending Machine </a:t>
            </a:r>
            <a:endParaRPr sz="5600">
              <a:solidFill>
                <a:schemeClr val="accent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" sz="2800">
                <a:solidFill>
                  <a:schemeClr val="dk1"/>
                </a:solidFill>
              </a:rPr>
              <a:t>At USC</a:t>
            </a:r>
            <a:endParaRPr sz="2800">
              <a:solidFill>
                <a:schemeClr val="dk1"/>
              </a:solidFill>
            </a:endParaRPr>
          </a:p>
        </p:txBody>
      </p:sp>
      <p:sp>
        <p:nvSpPr>
          <p:cNvPr id="374" name="Google Shape;374;p2"/>
          <p:cNvSpPr txBox="1"/>
          <p:nvPr>
            <p:ph idx="1" type="subTitle"/>
          </p:nvPr>
        </p:nvSpPr>
        <p:spPr>
          <a:xfrm>
            <a:off x="3282500" y="3244625"/>
            <a:ext cx="5586900" cy="83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Group H: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Anna Natasha, Aaryavardhan Rathore, Donya Damavandi, Jay Maniyar, Samantha Sy, Yiwen Mei, Yuqing (Helen) Yang</a:t>
            </a:r>
            <a:endParaRPr/>
          </a:p>
        </p:txBody>
      </p:sp>
      <p:grpSp>
        <p:nvGrpSpPr>
          <p:cNvPr id="375" name="Google Shape;375;p2"/>
          <p:cNvGrpSpPr/>
          <p:nvPr/>
        </p:nvGrpSpPr>
        <p:grpSpPr>
          <a:xfrm>
            <a:off x="415312" y="630412"/>
            <a:ext cx="5" cy="257176"/>
            <a:chOff x="1247773" y="438149"/>
            <a:chExt cx="6" cy="342901"/>
          </a:xfrm>
        </p:grpSpPr>
        <p:cxnSp>
          <p:nvCxnSpPr>
            <p:cNvPr id="376" name="Google Shape;376;p2"/>
            <p:cNvCxnSpPr/>
            <p:nvPr/>
          </p:nvCxnSpPr>
          <p:spPr>
            <a:xfrm>
              <a:off x="1247775" y="438150"/>
              <a:ext cx="0" cy="342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77" name="Google Shape;377;p2"/>
            <p:cNvCxnSpPr/>
            <p:nvPr/>
          </p:nvCxnSpPr>
          <p:spPr>
            <a:xfrm>
              <a:off x="1247773" y="438195"/>
              <a:ext cx="0" cy="342805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78" name="Google Shape;378;p2"/>
            <p:cNvCxnSpPr/>
            <p:nvPr/>
          </p:nvCxnSpPr>
          <p:spPr>
            <a:xfrm rot="10800000">
              <a:off x="1247774" y="438149"/>
              <a:ext cx="0" cy="342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79" name="Google Shape;379;p2"/>
            <p:cNvCxnSpPr/>
            <p:nvPr/>
          </p:nvCxnSpPr>
          <p:spPr>
            <a:xfrm rot="10800000">
              <a:off x="1247779" y="438201"/>
              <a:ext cx="0" cy="342805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pic>
        <p:nvPicPr>
          <p:cNvPr id="380" name="Google Shape;380;p2"/>
          <p:cNvPicPr preferRelativeResize="0"/>
          <p:nvPr/>
        </p:nvPicPr>
        <p:blipFill rotWithShape="1">
          <a:blip r:embed="rId3">
            <a:alphaModFix/>
          </a:blip>
          <a:srcRect b="4698" l="9793" r="13271" t="0"/>
          <a:stretch/>
        </p:blipFill>
        <p:spPr>
          <a:xfrm>
            <a:off x="946925" y="222750"/>
            <a:ext cx="1622250" cy="4611451"/>
          </a:xfrm>
          <a:prstGeom prst="rect">
            <a:avLst/>
          </a:prstGeom>
          <a:noFill/>
          <a:ln>
            <a:noFill/>
          </a:ln>
        </p:spPr>
      </p:pic>
      <p:sp>
        <p:nvSpPr>
          <p:cNvPr id="381" name="Google Shape;381;p2"/>
          <p:cNvSpPr/>
          <p:nvPr/>
        </p:nvSpPr>
        <p:spPr>
          <a:xfrm>
            <a:off x="1219475" y="630400"/>
            <a:ext cx="1162800" cy="661200"/>
          </a:xfrm>
          <a:prstGeom prst="roundRect">
            <a:avLst>
              <a:gd fmla="val 16667" name="adj"/>
            </a:avLst>
          </a:prstGeom>
          <a:solidFill>
            <a:srgbClr val="FDE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Karla"/>
              <a:ea typeface="Karla"/>
              <a:cs typeface="Karla"/>
              <a:sym typeface="Karl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6" name="Google Shape;386;p3"/>
          <p:cNvGrpSpPr/>
          <p:nvPr/>
        </p:nvGrpSpPr>
        <p:grpSpPr>
          <a:xfrm>
            <a:off x="2883625" y="3583625"/>
            <a:ext cx="906600" cy="906600"/>
            <a:chOff x="3307125" y="1789650"/>
            <a:chExt cx="906600" cy="906600"/>
          </a:xfrm>
        </p:grpSpPr>
        <p:sp>
          <p:nvSpPr>
            <p:cNvPr id="387" name="Google Shape;387;p3"/>
            <p:cNvSpPr/>
            <p:nvPr/>
          </p:nvSpPr>
          <p:spPr>
            <a:xfrm>
              <a:off x="3307125" y="1789650"/>
              <a:ext cx="906600" cy="9066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8" name="Google Shape;388;p3"/>
            <p:cNvSpPr/>
            <p:nvPr/>
          </p:nvSpPr>
          <p:spPr>
            <a:xfrm>
              <a:off x="3383775" y="1866325"/>
              <a:ext cx="753300" cy="753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89" name="Google Shape;389;p3"/>
          <p:cNvGrpSpPr/>
          <p:nvPr/>
        </p:nvGrpSpPr>
        <p:grpSpPr>
          <a:xfrm>
            <a:off x="2883575" y="2424475"/>
            <a:ext cx="906600" cy="906600"/>
            <a:chOff x="3307125" y="1789650"/>
            <a:chExt cx="906600" cy="906600"/>
          </a:xfrm>
        </p:grpSpPr>
        <p:sp>
          <p:nvSpPr>
            <p:cNvPr id="390" name="Google Shape;390;p3"/>
            <p:cNvSpPr/>
            <p:nvPr/>
          </p:nvSpPr>
          <p:spPr>
            <a:xfrm>
              <a:off x="3307125" y="1789650"/>
              <a:ext cx="906600" cy="9066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1" name="Google Shape;391;p3"/>
            <p:cNvSpPr/>
            <p:nvPr/>
          </p:nvSpPr>
          <p:spPr>
            <a:xfrm>
              <a:off x="3383775" y="1866325"/>
              <a:ext cx="753300" cy="753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92" name="Google Shape;392;p3"/>
          <p:cNvGrpSpPr/>
          <p:nvPr/>
        </p:nvGrpSpPr>
        <p:grpSpPr>
          <a:xfrm>
            <a:off x="4572000" y="1384925"/>
            <a:ext cx="906600" cy="906600"/>
            <a:chOff x="3307125" y="1789650"/>
            <a:chExt cx="906600" cy="906600"/>
          </a:xfrm>
        </p:grpSpPr>
        <p:sp>
          <p:nvSpPr>
            <p:cNvPr id="393" name="Google Shape;393;p3"/>
            <p:cNvSpPr/>
            <p:nvPr/>
          </p:nvSpPr>
          <p:spPr>
            <a:xfrm>
              <a:off x="3307125" y="1789650"/>
              <a:ext cx="906600" cy="9066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4" name="Google Shape;394;p3"/>
            <p:cNvSpPr/>
            <p:nvPr/>
          </p:nvSpPr>
          <p:spPr>
            <a:xfrm>
              <a:off x="3383775" y="1866325"/>
              <a:ext cx="753300" cy="753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95" name="Google Shape;395;p3"/>
          <p:cNvGrpSpPr/>
          <p:nvPr/>
        </p:nvGrpSpPr>
        <p:grpSpPr>
          <a:xfrm>
            <a:off x="2883625" y="1361188"/>
            <a:ext cx="906600" cy="906600"/>
            <a:chOff x="3307125" y="1789650"/>
            <a:chExt cx="906600" cy="906600"/>
          </a:xfrm>
        </p:grpSpPr>
        <p:sp>
          <p:nvSpPr>
            <p:cNvPr id="396" name="Google Shape;396;p3"/>
            <p:cNvSpPr/>
            <p:nvPr/>
          </p:nvSpPr>
          <p:spPr>
            <a:xfrm>
              <a:off x="3307125" y="1789650"/>
              <a:ext cx="906600" cy="9066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7" name="Google Shape;397;p3"/>
            <p:cNvSpPr/>
            <p:nvPr/>
          </p:nvSpPr>
          <p:spPr>
            <a:xfrm>
              <a:off x="3383775" y="1866325"/>
              <a:ext cx="753300" cy="753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98" name="Google Shape;398;p3"/>
          <p:cNvSpPr txBox="1"/>
          <p:nvPr>
            <p:ph type="title"/>
          </p:nvPr>
        </p:nvSpPr>
        <p:spPr>
          <a:xfrm>
            <a:off x="720000" y="53940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TABLE OF CONTENTS</a:t>
            </a:r>
            <a:endParaRPr/>
          </a:p>
        </p:txBody>
      </p:sp>
      <p:sp>
        <p:nvSpPr>
          <p:cNvPr id="399" name="Google Shape;399;p3"/>
          <p:cNvSpPr txBox="1"/>
          <p:nvPr>
            <p:ph idx="2" type="title"/>
          </p:nvPr>
        </p:nvSpPr>
        <p:spPr>
          <a:xfrm>
            <a:off x="771850" y="1634825"/>
            <a:ext cx="1926900" cy="34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r>
              <a:rPr lang="en"/>
              <a:t>Introduction</a:t>
            </a:r>
            <a:endParaRPr/>
          </a:p>
        </p:txBody>
      </p:sp>
      <p:sp>
        <p:nvSpPr>
          <p:cNvPr id="400" name="Google Shape;400;p3"/>
          <p:cNvSpPr txBox="1"/>
          <p:nvPr>
            <p:ph idx="3" type="title"/>
          </p:nvPr>
        </p:nvSpPr>
        <p:spPr>
          <a:xfrm>
            <a:off x="126105" y="3863075"/>
            <a:ext cx="2386800" cy="34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r>
              <a:rPr lang="en"/>
              <a:t>Conjoint Analysis</a:t>
            </a:r>
            <a:endParaRPr/>
          </a:p>
        </p:txBody>
      </p:sp>
      <p:sp>
        <p:nvSpPr>
          <p:cNvPr id="401" name="Google Shape;401;p3"/>
          <p:cNvSpPr txBox="1"/>
          <p:nvPr>
            <p:ph idx="5" type="title"/>
          </p:nvPr>
        </p:nvSpPr>
        <p:spPr>
          <a:xfrm>
            <a:off x="645150" y="2748938"/>
            <a:ext cx="1966800" cy="34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2500"/>
              <a:buNone/>
            </a:pPr>
            <a:r>
              <a:rPr lang="en"/>
              <a:t>Objective &amp; Method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r>
              <a:t/>
            </a:r>
            <a:endParaRPr/>
          </a:p>
        </p:txBody>
      </p:sp>
      <p:sp>
        <p:nvSpPr>
          <p:cNvPr id="402" name="Google Shape;402;p3"/>
          <p:cNvSpPr txBox="1"/>
          <p:nvPr>
            <p:ph idx="7" type="title"/>
          </p:nvPr>
        </p:nvSpPr>
        <p:spPr>
          <a:xfrm>
            <a:off x="5813250" y="1664375"/>
            <a:ext cx="2753700" cy="34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r>
              <a:rPr lang="en"/>
              <a:t>Segmentation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r>
              <a:rPr lang="en"/>
              <a:t>Analysis</a:t>
            </a:r>
            <a:endParaRPr/>
          </a:p>
        </p:txBody>
      </p:sp>
      <p:sp>
        <p:nvSpPr>
          <p:cNvPr id="403" name="Google Shape;403;p3"/>
          <p:cNvSpPr txBox="1"/>
          <p:nvPr>
            <p:ph idx="9" type="title"/>
          </p:nvPr>
        </p:nvSpPr>
        <p:spPr>
          <a:xfrm>
            <a:off x="2883575" y="1550638"/>
            <a:ext cx="9066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404" name="Google Shape;404;p3"/>
          <p:cNvSpPr txBox="1"/>
          <p:nvPr>
            <p:ph idx="13" type="title"/>
          </p:nvPr>
        </p:nvSpPr>
        <p:spPr>
          <a:xfrm>
            <a:off x="2883525" y="2613925"/>
            <a:ext cx="9066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405" name="Google Shape;405;p3"/>
          <p:cNvSpPr txBox="1"/>
          <p:nvPr>
            <p:ph idx="14" type="title"/>
          </p:nvPr>
        </p:nvSpPr>
        <p:spPr>
          <a:xfrm>
            <a:off x="2883625" y="3773075"/>
            <a:ext cx="9066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406" name="Google Shape;406;p3"/>
          <p:cNvSpPr txBox="1"/>
          <p:nvPr>
            <p:ph idx="15" type="title"/>
          </p:nvPr>
        </p:nvSpPr>
        <p:spPr>
          <a:xfrm>
            <a:off x="4572000" y="1574375"/>
            <a:ext cx="9066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04</a:t>
            </a:r>
            <a:endParaRPr/>
          </a:p>
        </p:txBody>
      </p:sp>
      <p:grpSp>
        <p:nvGrpSpPr>
          <p:cNvPr id="407" name="Google Shape;407;p3"/>
          <p:cNvGrpSpPr/>
          <p:nvPr/>
        </p:nvGrpSpPr>
        <p:grpSpPr>
          <a:xfrm>
            <a:off x="1284598" y="914272"/>
            <a:ext cx="8" cy="470666"/>
            <a:chOff x="1247773" y="438149"/>
            <a:chExt cx="6" cy="342901"/>
          </a:xfrm>
        </p:grpSpPr>
        <p:cxnSp>
          <p:nvCxnSpPr>
            <p:cNvPr id="408" name="Google Shape;408;p3"/>
            <p:cNvCxnSpPr/>
            <p:nvPr/>
          </p:nvCxnSpPr>
          <p:spPr>
            <a:xfrm>
              <a:off x="1247775" y="438150"/>
              <a:ext cx="0" cy="342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09" name="Google Shape;409;p3"/>
            <p:cNvCxnSpPr/>
            <p:nvPr/>
          </p:nvCxnSpPr>
          <p:spPr>
            <a:xfrm>
              <a:off x="1247773" y="438195"/>
              <a:ext cx="0" cy="342805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10" name="Google Shape;410;p3"/>
            <p:cNvCxnSpPr/>
            <p:nvPr/>
          </p:nvCxnSpPr>
          <p:spPr>
            <a:xfrm rot="10800000">
              <a:off x="1247774" y="438149"/>
              <a:ext cx="0" cy="342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11" name="Google Shape;411;p3"/>
            <p:cNvCxnSpPr/>
            <p:nvPr/>
          </p:nvCxnSpPr>
          <p:spPr>
            <a:xfrm rot="10800000">
              <a:off x="1247779" y="438201"/>
              <a:ext cx="0" cy="342805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412" name="Google Shape;412;p3"/>
          <p:cNvGrpSpPr/>
          <p:nvPr/>
        </p:nvGrpSpPr>
        <p:grpSpPr>
          <a:xfrm>
            <a:off x="7662773" y="304072"/>
            <a:ext cx="8" cy="470666"/>
            <a:chOff x="1247773" y="438149"/>
            <a:chExt cx="6" cy="342901"/>
          </a:xfrm>
        </p:grpSpPr>
        <p:cxnSp>
          <p:nvCxnSpPr>
            <p:cNvPr id="413" name="Google Shape;413;p3"/>
            <p:cNvCxnSpPr/>
            <p:nvPr/>
          </p:nvCxnSpPr>
          <p:spPr>
            <a:xfrm>
              <a:off x="1247775" y="438150"/>
              <a:ext cx="0" cy="342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14" name="Google Shape;414;p3"/>
            <p:cNvCxnSpPr/>
            <p:nvPr/>
          </p:nvCxnSpPr>
          <p:spPr>
            <a:xfrm>
              <a:off x="1247773" y="438195"/>
              <a:ext cx="0" cy="342805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15" name="Google Shape;415;p3"/>
            <p:cNvCxnSpPr/>
            <p:nvPr/>
          </p:nvCxnSpPr>
          <p:spPr>
            <a:xfrm rot="10800000">
              <a:off x="1247774" y="438149"/>
              <a:ext cx="0" cy="342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16" name="Google Shape;416;p3"/>
            <p:cNvCxnSpPr/>
            <p:nvPr/>
          </p:nvCxnSpPr>
          <p:spPr>
            <a:xfrm rot="10800000">
              <a:off x="1247779" y="438201"/>
              <a:ext cx="0" cy="342805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417" name="Google Shape;417;p3"/>
          <p:cNvGrpSpPr/>
          <p:nvPr/>
        </p:nvGrpSpPr>
        <p:grpSpPr>
          <a:xfrm>
            <a:off x="7406062" y="4655087"/>
            <a:ext cx="5" cy="257176"/>
            <a:chOff x="1247773" y="438149"/>
            <a:chExt cx="6" cy="342901"/>
          </a:xfrm>
        </p:grpSpPr>
        <p:cxnSp>
          <p:nvCxnSpPr>
            <p:cNvPr id="418" name="Google Shape;418;p3"/>
            <p:cNvCxnSpPr/>
            <p:nvPr/>
          </p:nvCxnSpPr>
          <p:spPr>
            <a:xfrm>
              <a:off x="1247775" y="438150"/>
              <a:ext cx="0" cy="342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19" name="Google Shape;419;p3"/>
            <p:cNvCxnSpPr/>
            <p:nvPr/>
          </p:nvCxnSpPr>
          <p:spPr>
            <a:xfrm>
              <a:off x="1247773" y="438195"/>
              <a:ext cx="0" cy="342805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20" name="Google Shape;420;p3"/>
            <p:cNvCxnSpPr/>
            <p:nvPr/>
          </p:nvCxnSpPr>
          <p:spPr>
            <a:xfrm rot="10800000">
              <a:off x="1247774" y="438149"/>
              <a:ext cx="0" cy="342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21" name="Google Shape;421;p3"/>
            <p:cNvCxnSpPr/>
            <p:nvPr/>
          </p:nvCxnSpPr>
          <p:spPr>
            <a:xfrm rot="10800000">
              <a:off x="1247779" y="438201"/>
              <a:ext cx="0" cy="342805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422" name="Google Shape;422;p3"/>
          <p:cNvGrpSpPr/>
          <p:nvPr/>
        </p:nvGrpSpPr>
        <p:grpSpPr>
          <a:xfrm>
            <a:off x="2805162" y="4655087"/>
            <a:ext cx="4" cy="257176"/>
            <a:chOff x="1247773" y="438149"/>
            <a:chExt cx="6" cy="342901"/>
          </a:xfrm>
        </p:grpSpPr>
        <p:cxnSp>
          <p:nvCxnSpPr>
            <p:cNvPr id="423" name="Google Shape;423;p3"/>
            <p:cNvCxnSpPr/>
            <p:nvPr/>
          </p:nvCxnSpPr>
          <p:spPr>
            <a:xfrm>
              <a:off x="1247775" y="438150"/>
              <a:ext cx="0" cy="342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24" name="Google Shape;424;p3"/>
            <p:cNvCxnSpPr/>
            <p:nvPr/>
          </p:nvCxnSpPr>
          <p:spPr>
            <a:xfrm>
              <a:off x="1247773" y="438195"/>
              <a:ext cx="0" cy="342805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25" name="Google Shape;425;p3"/>
            <p:cNvCxnSpPr/>
            <p:nvPr/>
          </p:nvCxnSpPr>
          <p:spPr>
            <a:xfrm rot="10800000">
              <a:off x="1247774" y="438149"/>
              <a:ext cx="0" cy="342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26" name="Google Shape;426;p3"/>
            <p:cNvCxnSpPr/>
            <p:nvPr/>
          </p:nvCxnSpPr>
          <p:spPr>
            <a:xfrm rot="10800000">
              <a:off x="1247779" y="438201"/>
              <a:ext cx="0" cy="342805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427" name="Google Shape;427;p3"/>
          <p:cNvGrpSpPr/>
          <p:nvPr/>
        </p:nvGrpSpPr>
        <p:grpSpPr>
          <a:xfrm>
            <a:off x="8260600" y="181175"/>
            <a:ext cx="790200" cy="970600"/>
            <a:chOff x="8260600" y="181175"/>
            <a:chExt cx="790200" cy="970600"/>
          </a:xfrm>
        </p:grpSpPr>
        <p:cxnSp>
          <p:nvCxnSpPr>
            <p:cNvPr id="428" name="Google Shape;428;p3"/>
            <p:cNvCxnSpPr/>
            <p:nvPr/>
          </p:nvCxnSpPr>
          <p:spPr>
            <a:xfrm flipH="1" rot="10800000">
              <a:off x="8260600" y="361875"/>
              <a:ext cx="790200" cy="789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29" name="Google Shape;429;p3"/>
            <p:cNvCxnSpPr/>
            <p:nvPr/>
          </p:nvCxnSpPr>
          <p:spPr>
            <a:xfrm flipH="1" rot="10800000">
              <a:off x="8501364" y="181175"/>
              <a:ext cx="442500" cy="4425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430" name="Google Shape;430;p3"/>
          <p:cNvGrpSpPr/>
          <p:nvPr/>
        </p:nvGrpSpPr>
        <p:grpSpPr>
          <a:xfrm>
            <a:off x="4539600" y="2493875"/>
            <a:ext cx="906600" cy="906600"/>
            <a:chOff x="3307125" y="1789650"/>
            <a:chExt cx="906600" cy="906600"/>
          </a:xfrm>
        </p:grpSpPr>
        <p:sp>
          <p:nvSpPr>
            <p:cNvPr id="431" name="Google Shape;431;p3"/>
            <p:cNvSpPr/>
            <p:nvPr/>
          </p:nvSpPr>
          <p:spPr>
            <a:xfrm>
              <a:off x="3307125" y="1789650"/>
              <a:ext cx="906600" cy="9066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2" name="Google Shape;432;p3"/>
            <p:cNvSpPr/>
            <p:nvPr/>
          </p:nvSpPr>
          <p:spPr>
            <a:xfrm>
              <a:off x="3383775" y="1866325"/>
              <a:ext cx="753300" cy="753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33" name="Google Shape;433;p3"/>
          <p:cNvSpPr txBox="1"/>
          <p:nvPr>
            <p:ph idx="7" type="title"/>
          </p:nvPr>
        </p:nvSpPr>
        <p:spPr>
          <a:xfrm>
            <a:off x="5780850" y="2773325"/>
            <a:ext cx="2753700" cy="34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r>
              <a:rPr lang="en"/>
              <a:t>Market &amp; Pricing Analysis</a:t>
            </a:r>
            <a:endParaRPr/>
          </a:p>
        </p:txBody>
      </p:sp>
      <p:sp>
        <p:nvSpPr>
          <p:cNvPr id="434" name="Google Shape;434;p3"/>
          <p:cNvSpPr txBox="1"/>
          <p:nvPr>
            <p:ph idx="15" type="title"/>
          </p:nvPr>
        </p:nvSpPr>
        <p:spPr>
          <a:xfrm>
            <a:off x="4539600" y="2683325"/>
            <a:ext cx="9066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05</a:t>
            </a:r>
            <a:endParaRPr/>
          </a:p>
        </p:txBody>
      </p:sp>
      <p:grpSp>
        <p:nvGrpSpPr>
          <p:cNvPr id="435" name="Google Shape;435;p3"/>
          <p:cNvGrpSpPr/>
          <p:nvPr/>
        </p:nvGrpSpPr>
        <p:grpSpPr>
          <a:xfrm>
            <a:off x="4539600" y="3602825"/>
            <a:ext cx="906600" cy="906600"/>
            <a:chOff x="3307125" y="1789650"/>
            <a:chExt cx="906600" cy="906600"/>
          </a:xfrm>
        </p:grpSpPr>
        <p:sp>
          <p:nvSpPr>
            <p:cNvPr id="436" name="Google Shape;436;p3"/>
            <p:cNvSpPr/>
            <p:nvPr/>
          </p:nvSpPr>
          <p:spPr>
            <a:xfrm>
              <a:off x="3307125" y="1789650"/>
              <a:ext cx="906600" cy="9066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7" name="Google Shape;437;p3"/>
            <p:cNvSpPr/>
            <p:nvPr/>
          </p:nvSpPr>
          <p:spPr>
            <a:xfrm>
              <a:off x="3383775" y="1866325"/>
              <a:ext cx="753300" cy="753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38" name="Google Shape;438;p3"/>
          <p:cNvSpPr txBox="1"/>
          <p:nvPr>
            <p:ph idx="7" type="title"/>
          </p:nvPr>
        </p:nvSpPr>
        <p:spPr>
          <a:xfrm>
            <a:off x="5780850" y="3882275"/>
            <a:ext cx="2753700" cy="34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r>
              <a:rPr lang="en"/>
              <a:t>Managerial Implications</a:t>
            </a:r>
            <a:endParaRPr/>
          </a:p>
        </p:txBody>
      </p:sp>
      <p:sp>
        <p:nvSpPr>
          <p:cNvPr id="439" name="Google Shape;439;p3"/>
          <p:cNvSpPr txBox="1"/>
          <p:nvPr>
            <p:ph idx="15" type="title"/>
          </p:nvPr>
        </p:nvSpPr>
        <p:spPr>
          <a:xfrm>
            <a:off x="4539600" y="3792275"/>
            <a:ext cx="9066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06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4"/>
          <p:cNvSpPr/>
          <p:nvPr/>
        </p:nvSpPr>
        <p:spPr>
          <a:xfrm>
            <a:off x="-12450" y="0"/>
            <a:ext cx="9144000" cy="511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445" name="Google Shape;445;p4"/>
          <p:cNvSpPr txBox="1"/>
          <p:nvPr>
            <p:ph type="title"/>
          </p:nvPr>
        </p:nvSpPr>
        <p:spPr>
          <a:xfrm>
            <a:off x="2241450" y="269600"/>
            <a:ext cx="4661100" cy="67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Problem</a:t>
            </a:r>
            <a:endParaRPr/>
          </a:p>
        </p:txBody>
      </p:sp>
      <p:sp>
        <p:nvSpPr>
          <p:cNvPr id="446" name="Google Shape;446;p4"/>
          <p:cNvSpPr txBox="1"/>
          <p:nvPr>
            <p:ph idx="1" type="subTitle"/>
          </p:nvPr>
        </p:nvSpPr>
        <p:spPr>
          <a:xfrm>
            <a:off x="1358025" y="1852025"/>
            <a:ext cx="6885600" cy="9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" sz="2500"/>
              <a:t>At USC getting a healthy, filling meal is </a:t>
            </a:r>
            <a:r>
              <a:rPr b="1" lang="en" sz="2500">
                <a:solidFill>
                  <a:srgbClr val="D1490E"/>
                </a:solidFill>
              </a:rPr>
              <a:t>inconvenient</a:t>
            </a:r>
            <a:r>
              <a:rPr lang="en" sz="2500"/>
              <a:t>. With only drink machines and cafeterias, the </a:t>
            </a:r>
            <a:r>
              <a:rPr lang="en" sz="2500"/>
              <a:t>long line</a:t>
            </a:r>
            <a:r>
              <a:rPr lang="en" sz="2500"/>
              <a:t> and prep</a:t>
            </a:r>
            <a:r>
              <a:rPr lang="en" sz="2500"/>
              <a:t> time </a:t>
            </a:r>
            <a:r>
              <a:rPr lang="en" sz="2500"/>
              <a:t>takes forever to get food!</a:t>
            </a:r>
            <a:endParaRPr sz="25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sz="2500"/>
          </a:p>
        </p:txBody>
      </p:sp>
      <p:sp>
        <p:nvSpPr>
          <p:cNvPr id="447" name="Google Shape;447;p4"/>
          <p:cNvSpPr/>
          <p:nvPr/>
        </p:nvSpPr>
        <p:spPr>
          <a:xfrm>
            <a:off x="-10925" y="0"/>
            <a:ext cx="906600" cy="5143500"/>
          </a:xfrm>
          <a:prstGeom prst="rect">
            <a:avLst/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grpSp>
        <p:nvGrpSpPr>
          <p:cNvPr id="448" name="Google Shape;448;p4"/>
          <p:cNvGrpSpPr/>
          <p:nvPr/>
        </p:nvGrpSpPr>
        <p:grpSpPr>
          <a:xfrm>
            <a:off x="1192275" y="154250"/>
            <a:ext cx="906600" cy="906600"/>
            <a:chOff x="3307125" y="1789650"/>
            <a:chExt cx="906600" cy="906600"/>
          </a:xfrm>
        </p:grpSpPr>
        <p:sp>
          <p:nvSpPr>
            <p:cNvPr id="449" name="Google Shape;449;p4"/>
            <p:cNvSpPr/>
            <p:nvPr/>
          </p:nvSpPr>
          <p:spPr>
            <a:xfrm>
              <a:off x="3307125" y="1789650"/>
              <a:ext cx="906600" cy="9066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0" name="Google Shape;450;p4"/>
            <p:cNvSpPr/>
            <p:nvPr/>
          </p:nvSpPr>
          <p:spPr>
            <a:xfrm>
              <a:off x="3383775" y="1866325"/>
              <a:ext cx="753300" cy="753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51" name="Google Shape;451;p4"/>
          <p:cNvSpPr txBox="1"/>
          <p:nvPr>
            <p:ph idx="4294967295" type="title"/>
          </p:nvPr>
        </p:nvSpPr>
        <p:spPr>
          <a:xfrm>
            <a:off x="1192275" y="343700"/>
            <a:ext cx="9066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01</a:t>
            </a:r>
            <a:endParaRPr/>
          </a:p>
        </p:txBody>
      </p:sp>
      <p:grpSp>
        <p:nvGrpSpPr>
          <p:cNvPr id="452" name="Google Shape;452;p4"/>
          <p:cNvGrpSpPr/>
          <p:nvPr/>
        </p:nvGrpSpPr>
        <p:grpSpPr>
          <a:xfrm>
            <a:off x="8465673" y="3480347"/>
            <a:ext cx="8" cy="470666"/>
            <a:chOff x="1247773" y="438149"/>
            <a:chExt cx="6" cy="342901"/>
          </a:xfrm>
        </p:grpSpPr>
        <p:cxnSp>
          <p:nvCxnSpPr>
            <p:cNvPr id="453" name="Google Shape;453;p4"/>
            <p:cNvCxnSpPr/>
            <p:nvPr/>
          </p:nvCxnSpPr>
          <p:spPr>
            <a:xfrm>
              <a:off x="1247775" y="438150"/>
              <a:ext cx="0" cy="342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54" name="Google Shape;454;p4"/>
            <p:cNvCxnSpPr/>
            <p:nvPr/>
          </p:nvCxnSpPr>
          <p:spPr>
            <a:xfrm>
              <a:off x="1247773" y="438195"/>
              <a:ext cx="0" cy="342805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55" name="Google Shape;455;p4"/>
            <p:cNvCxnSpPr/>
            <p:nvPr/>
          </p:nvCxnSpPr>
          <p:spPr>
            <a:xfrm rot="10800000">
              <a:off x="1247774" y="438149"/>
              <a:ext cx="0" cy="342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56" name="Google Shape;456;p4"/>
            <p:cNvCxnSpPr/>
            <p:nvPr/>
          </p:nvCxnSpPr>
          <p:spPr>
            <a:xfrm rot="10800000">
              <a:off x="1247779" y="438201"/>
              <a:ext cx="0" cy="342805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457" name="Google Shape;457;p4"/>
          <p:cNvGrpSpPr/>
          <p:nvPr/>
        </p:nvGrpSpPr>
        <p:grpSpPr>
          <a:xfrm>
            <a:off x="8035800" y="1942525"/>
            <a:ext cx="790200" cy="970600"/>
            <a:chOff x="4380675" y="1010050"/>
            <a:chExt cx="790200" cy="970600"/>
          </a:xfrm>
        </p:grpSpPr>
        <p:cxnSp>
          <p:nvCxnSpPr>
            <p:cNvPr id="458" name="Google Shape;458;p4"/>
            <p:cNvCxnSpPr/>
            <p:nvPr/>
          </p:nvCxnSpPr>
          <p:spPr>
            <a:xfrm flipH="1" rot="10800000">
              <a:off x="4380675" y="1190750"/>
              <a:ext cx="790200" cy="789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59" name="Google Shape;459;p4"/>
            <p:cNvCxnSpPr/>
            <p:nvPr/>
          </p:nvCxnSpPr>
          <p:spPr>
            <a:xfrm flipH="1" rot="10800000">
              <a:off x="4621439" y="1010050"/>
              <a:ext cx="442500" cy="4425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460" name="Google Shape;460;p4"/>
          <p:cNvGrpSpPr/>
          <p:nvPr/>
        </p:nvGrpSpPr>
        <p:grpSpPr>
          <a:xfrm>
            <a:off x="7771187" y="282212"/>
            <a:ext cx="4" cy="257176"/>
            <a:chOff x="1247773" y="438149"/>
            <a:chExt cx="6" cy="342901"/>
          </a:xfrm>
        </p:grpSpPr>
        <p:cxnSp>
          <p:nvCxnSpPr>
            <p:cNvPr id="461" name="Google Shape;461;p4"/>
            <p:cNvCxnSpPr/>
            <p:nvPr/>
          </p:nvCxnSpPr>
          <p:spPr>
            <a:xfrm>
              <a:off x="1247775" y="438150"/>
              <a:ext cx="0" cy="342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62" name="Google Shape;462;p4"/>
            <p:cNvCxnSpPr/>
            <p:nvPr/>
          </p:nvCxnSpPr>
          <p:spPr>
            <a:xfrm>
              <a:off x="1247773" y="438195"/>
              <a:ext cx="0" cy="342805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63" name="Google Shape;463;p4"/>
            <p:cNvCxnSpPr/>
            <p:nvPr/>
          </p:nvCxnSpPr>
          <p:spPr>
            <a:xfrm rot="10800000">
              <a:off x="1247774" y="438149"/>
              <a:ext cx="0" cy="342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64" name="Google Shape;464;p4"/>
            <p:cNvCxnSpPr/>
            <p:nvPr/>
          </p:nvCxnSpPr>
          <p:spPr>
            <a:xfrm rot="10800000">
              <a:off x="1247779" y="438201"/>
              <a:ext cx="0" cy="342805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5"/>
          <p:cNvSpPr/>
          <p:nvPr/>
        </p:nvSpPr>
        <p:spPr>
          <a:xfrm>
            <a:off x="-12450" y="-24825"/>
            <a:ext cx="9144000" cy="51435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470" name="Google Shape;470;p5"/>
          <p:cNvSpPr txBox="1"/>
          <p:nvPr>
            <p:ph type="title"/>
          </p:nvPr>
        </p:nvSpPr>
        <p:spPr>
          <a:xfrm>
            <a:off x="326125" y="2609850"/>
            <a:ext cx="4245900" cy="14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perfect solution for busy individuals who want to enjoy </a:t>
            </a:r>
            <a:r>
              <a:rPr lang="en" sz="2000">
                <a:solidFill>
                  <a:srgbClr val="38761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healthy</a:t>
            </a:r>
            <a:r>
              <a:rPr lang="en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and </a:t>
            </a:r>
            <a:r>
              <a:rPr lang="en" sz="2000">
                <a:solidFill>
                  <a:srgbClr val="38761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delicious meals </a:t>
            </a:r>
            <a:r>
              <a:rPr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on-the-go</a:t>
            </a:r>
            <a:r>
              <a:rPr lang="en" sz="2000">
                <a:solidFill>
                  <a:srgbClr val="38761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 under</a:t>
            </a:r>
            <a:r>
              <a:rPr lang="en" sz="2000">
                <a:solidFill>
                  <a:srgbClr val="38761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3 minutes!</a:t>
            </a:r>
            <a:endParaRPr sz="2000"/>
          </a:p>
        </p:txBody>
      </p:sp>
      <p:sp>
        <p:nvSpPr>
          <p:cNvPr id="471" name="Google Shape;471;p5"/>
          <p:cNvSpPr txBox="1"/>
          <p:nvPr>
            <p:ph type="title"/>
          </p:nvPr>
        </p:nvSpPr>
        <p:spPr>
          <a:xfrm>
            <a:off x="1392950" y="345325"/>
            <a:ext cx="4661100" cy="67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 sz="3000"/>
              <a:t>Introduction</a:t>
            </a:r>
            <a:endParaRPr sz="3000"/>
          </a:p>
        </p:txBody>
      </p:sp>
      <p:sp>
        <p:nvSpPr>
          <p:cNvPr id="472" name="Google Shape;472;p5"/>
          <p:cNvSpPr txBox="1"/>
          <p:nvPr>
            <p:ph idx="4294967295" type="ctrTitle"/>
          </p:nvPr>
        </p:nvSpPr>
        <p:spPr>
          <a:xfrm>
            <a:off x="326125" y="1459575"/>
            <a:ext cx="4392300" cy="104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Yeseva One"/>
              <a:buNone/>
            </a:pPr>
            <a:r>
              <a:rPr lang="en">
                <a:solidFill>
                  <a:srgbClr val="6AA84F"/>
                </a:solidFill>
              </a:rPr>
              <a:t>Food</a:t>
            </a:r>
            <a:r>
              <a:rPr b="0" i="0" lang="en" sz="3000" u="none" cap="none" strike="noStrike">
                <a:solidFill>
                  <a:schemeClr val="accent1"/>
                </a:solidFill>
                <a:latin typeface="Yeseva One"/>
                <a:ea typeface="Yeseva One"/>
                <a:cs typeface="Yeseva One"/>
                <a:sym typeface="Yeseva One"/>
              </a:rPr>
              <a:t> </a:t>
            </a:r>
            <a:endParaRPr b="0" i="0" sz="3000" u="none" cap="none" strike="noStrike">
              <a:solidFill>
                <a:schemeClr val="accent1"/>
              </a:solidFill>
              <a:latin typeface="Yeseva One"/>
              <a:ea typeface="Yeseva One"/>
              <a:cs typeface="Yeseva One"/>
              <a:sym typeface="Yeseva On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Yeseva One"/>
              <a:buNone/>
            </a:pPr>
            <a:r>
              <a:rPr b="0" i="0" lang="en" sz="3000" u="none" cap="none" strike="noStrike">
                <a:solidFill>
                  <a:schemeClr val="accent1"/>
                </a:solidFill>
                <a:latin typeface="Yeseva One"/>
                <a:ea typeface="Yeseva One"/>
                <a:cs typeface="Yeseva One"/>
                <a:sym typeface="Yeseva One"/>
              </a:rPr>
              <a:t>Vending Machine</a:t>
            </a:r>
            <a:endParaRPr b="0" i="0" sz="3000" u="none" cap="none" strike="noStrike">
              <a:solidFill>
                <a:schemeClr val="dk1"/>
              </a:solidFill>
              <a:latin typeface="Yeseva One"/>
              <a:ea typeface="Yeseva One"/>
              <a:cs typeface="Yeseva One"/>
              <a:sym typeface="Yeseva One"/>
            </a:endParaRPr>
          </a:p>
        </p:txBody>
      </p:sp>
      <p:grpSp>
        <p:nvGrpSpPr>
          <p:cNvPr id="473" name="Google Shape;473;p5"/>
          <p:cNvGrpSpPr/>
          <p:nvPr/>
        </p:nvGrpSpPr>
        <p:grpSpPr>
          <a:xfrm>
            <a:off x="326125" y="229975"/>
            <a:ext cx="906600" cy="906600"/>
            <a:chOff x="3307125" y="1789650"/>
            <a:chExt cx="906600" cy="906600"/>
          </a:xfrm>
        </p:grpSpPr>
        <p:sp>
          <p:nvSpPr>
            <p:cNvPr id="474" name="Google Shape;474;p5"/>
            <p:cNvSpPr/>
            <p:nvPr/>
          </p:nvSpPr>
          <p:spPr>
            <a:xfrm>
              <a:off x="3307125" y="1789650"/>
              <a:ext cx="906600" cy="9066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5" name="Google Shape;475;p5"/>
            <p:cNvSpPr/>
            <p:nvPr/>
          </p:nvSpPr>
          <p:spPr>
            <a:xfrm>
              <a:off x="3383775" y="1866325"/>
              <a:ext cx="753300" cy="753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76" name="Google Shape;476;p5"/>
          <p:cNvSpPr txBox="1"/>
          <p:nvPr>
            <p:ph idx="4294967295" type="title"/>
          </p:nvPr>
        </p:nvSpPr>
        <p:spPr>
          <a:xfrm>
            <a:off x="326125" y="419425"/>
            <a:ext cx="9066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01</a:t>
            </a:r>
            <a:endParaRPr/>
          </a:p>
        </p:txBody>
      </p:sp>
      <p:pic>
        <p:nvPicPr>
          <p:cNvPr id="477" name="Google Shape;477;p5"/>
          <p:cNvPicPr preferRelativeResize="0"/>
          <p:nvPr/>
        </p:nvPicPr>
        <p:blipFill rotWithShape="1">
          <a:blip r:embed="rId3">
            <a:alphaModFix/>
          </a:blip>
          <a:srcRect b="2333" l="1389" r="11235" t="1980"/>
          <a:stretch/>
        </p:blipFill>
        <p:spPr>
          <a:xfrm>
            <a:off x="4939000" y="1061250"/>
            <a:ext cx="3628675" cy="40822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g31a4bfe9e73_0_12"/>
          <p:cNvSpPr/>
          <p:nvPr/>
        </p:nvSpPr>
        <p:spPr>
          <a:xfrm>
            <a:off x="0" y="17850"/>
            <a:ext cx="9144000" cy="5107800"/>
          </a:xfrm>
          <a:prstGeom prst="rect">
            <a:avLst/>
          </a:prstGeom>
          <a:solidFill>
            <a:srgbClr val="F1EBE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483" name="Google Shape;483;g31a4bfe9e73_0_12"/>
          <p:cNvSpPr/>
          <p:nvPr/>
        </p:nvSpPr>
        <p:spPr>
          <a:xfrm>
            <a:off x="919625" y="1368825"/>
            <a:ext cx="7517400" cy="31008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grpSp>
        <p:nvGrpSpPr>
          <p:cNvPr id="484" name="Google Shape;484;g31a4bfe9e73_0_12"/>
          <p:cNvGrpSpPr/>
          <p:nvPr/>
        </p:nvGrpSpPr>
        <p:grpSpPr>
          <a:xfrm>
            <a:off x="808775" y="287750"/>
            <a:ext cx="906600" cy="906600"/>
            <a:chOff x="3307125" y="1789650"/>
            <a:chExt cx="906600" cy="906600"/>
          </a:xfrm>
        </p:grpSpPr>
        <p:sp>
          <p:nvSpPr>
            <p:cNvPr id="485" name="Google Shape;485;g31a4bfe9e73_0_12"/>
            <p:cNvSpPr/>
            <p:nvPr/>
          </p:nvSpPr>
          <p:spPr>
            <a:xfrm>
              <a:off x="3307125" y="1789650"/>
              <a:ext cx="906600" cy="9066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6" name="Google Shape;486;g31a4bfe9e73_0_12"/>
            <p:cNvSpPr/>
            <p:nvPr/>
          </p:nvSpPr>
          <p:spPr>
            <a:xfrm>
              <a:off x="3383775" y="1866325"/>
              <a:ext cx="753300" cy="753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87" name="Google Shape;487;g31a4bfe9e73_0_12"/>
          <p:cNvSpPr txBox="1"/>
          <p:nvPr>
            <p:ph idx="4294967295" type="title"/>
          </p:nvPr>
        </p:nvSpPr>
        <p:spPr>
          <a:xfrm>
            <a:off x="808775" y="477200"/>
            <a:ext cx="9066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488" name="Google Shape;488;g31a4bfe9e73_0_12"/>
          <p:cNvSpPr txBox="1"/>
          <p:nvPr>
            <p:ph type="title"/>
          </p:nvPr>
        </p:nvSpPr>
        <p:spPr>
          <a:xfrm>
            <a:off x="1846950" y="403100"/>
            <a:ext cx="5008800" cy="67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Method: Conjoint Survey</a:t>
            </a:r>
            <a:endParaRPr sz="3000"/>
          </a:p>
        </p:txBody>
      </p:sp>
      <p:sp>
        <p:nvSpPr>
          <p:cNvPr id="489" name="Google Shape;489;g31a4bfe9e73_0_12"/>
          <p:cNvSpPr txBox="1"/>
          <p:nvPr>
            <p:ph idx="4294967295" type="subTitle"/>
          </p:nvPr>
        </p:nvSpPr>
        <p:spPr>
          <a:xfrm>
            <a:off x="1197875" y="1649175"/>
            <a:ext cx="7025400" cy="25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None/>
            </a:pPr>
            <a:r>
              <a:rPr b="0" i="0" lang="en" sz="1700" u="sng" cap="none" strike="noStrik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Conjoint Survey with 100 respondents</a:t>
            </a:r>
            <a:endParaRPr sz="1700" u="sng"/>
          </a:p>
          <a:p>
            <a:pPr indent="0" lvl="0" marL="0" marR="0" rtl="0" algn="just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None/>
            </a:pPr>
            <a:r>
              <a:rPr lang="en" sz="1700"/>
              <a:t>Should USC Install Food Vending Machines?</a:t>
            </a:r>
            <a:endParaRPr sz="1700"/>
          </a:p>
          <a:p>
            <a:pPr indent="0" lvl="0" marL="0" marR="0" rtl="0" algn="just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700"/>
              <a:t>1</a:t>
            </a:r>
            <a:r>
              <a:rPr lang="en" sz="1700"/>
              <a:t>. </a:t>
            </a:r>
            <a:r>
              <a:rPr lang="en" sz="1700"/>
              <a:t>Understand the demand for a food vending machine. </a:t>
            </a:r>
            <a:endParaRPr sz="1700"/>
          </a:p>
          <a:p>
            <a:pPr indent="0" lvl="0" marL="0" marR="0" rtl="0" algn="just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700"/>
              <a:t>2</a:t>
            </a:r>
            <a:r>
              <a:rPr lang="en" sz="1700"/>
              <a:t>. </a:t>
            </a:r>
            <a:r>
              <a:rPr lang="en" sz="1700"/>
              <a:t>Identify the attributes students and staff care about in meals.</a:t>
            </a:r>
            <a:endParaRPr sz="1700"/>
          </a:p>
          <a:p>
            <a:pPr indent="0" lvl="0" marL="0" marR="0" rtl="0" algn="just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Karla"/>
              <a:buNone/>
            </a:pPr>
            <a:r>
              <a:rPr lang="en" sz="1700"/>
              <a:t>3</a:t>
            </a:r>
            <a:r>
              <a:rPr lang="en" sz="1700"/>
              <a:t>. </a:t>
            </a:r>
            <a:r>
              <a:rPr lang="en" sz="1700"/>
              <a:t>Inform feature selection and pricing strategy based on preferences.</a:t>
            </a:r>
            <a:endParaRPr b="0" i="0" sz="1500" u="none" cap="none" strike="noStrike">
              <a:solidFill>
                <a:schemeClr val="dk1"/>
              </a:solidFill>
              <a:latin typeface="Karla"/>
              <a:ea typeface="Karla"/>
              <a:cs typeface="Karla"/>
              <a:sym typeface="Karl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31a4bfe9e73_0_47"/>
          <p:cNvSpPr/>
          <p:nvPr/>
        </p:nvSpPr>
        <p:spPr>
          <a:xfrm>
            <a:off x="0" y="17850"/>
            <a:ext cx="9144000" cy="5107800"/>
          </a:xfrm>
          <a:prstGeom prst="rect">
            <a:avLst/>
          </a:prstGeom>
          <a:solidFill>
            <a:srgbClr val="F1EBE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grpSp>
        <p:nvGrpSpPr>
          <p:cNvPr id="495" name="Google Shape;495;g31a4bfe9e73_0_47"/>
          <p:cNvGrpSpPr/>
          <p:nvPr/>
        </p:nvGrpSpPr>
        <p:grpSpPr>
          <a:xfrm>
            <a:off x="808775" y="287750"/>
            <a:ext cx="906600" cy="906600"/>
            <a:chOff x="3307125" y="1789650"/>
            <a:chExt cx="906600" cy="906600"/>
          </a:xfrm>
        </p:grpSpPr>
        <p:sp>
          <p:nvSpPr>
            <p:cNvPr id="496" name="Google Shape;496;g31a4bfe9e73_0_47"/>
            <p:cNvSpPr/>
            <p:nvPr/>
          </p:nvSpPr>
          <p:spPr>
            <a:xfrm>
              <a:off x="3307125" y="1789650"/>
              <a:ext cx="906600" cy="9066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7" name="Google Shape;497;g31a4bfe9e73_0_47"/>
            <p:cNvSpPr/>
            <p:nvPr/>
          </p:nvSpPr>
          <p:spPr>
            <a:xfrm>
              <a:off x="3383775" y="1866325"/>
              <a:ext cx="753300" cy="753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98" name="Google Shape;498;g31a4bfe9e73_0_47"/>
          <p:cNvSpPr txBox="1"/>
          <p:nvPr>
            <p:ph idx="4294967295" type="title"/>
          </p:nvPr>
        </p:nvSpPr>
        <p:spPr>
          <a:xfrm>
            <a:off x="808775" y="477200"/>
            <a:ext cx="9066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499" name="Google Shape;499;g31a4bfe9e73_0_47"/>
          <p:cNvSpPr txBox="1"/>
          <p:nvPr>
            <p:ph idx="4294967295" type="subTitle"/>
          </p:nvPr>
        </p:nvSpPr>
        <p:spPr>
          <a:xfrm>
            <a:off x="831675" y="1471050"/>
            <a:ext cx="3914400" cy="119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 u="sng">
                <a:solidFill>
                  <a:srgbClr val="000000"/>
                </a:solidFill>
              </a:rPr>
              <a:t>Frozen/Fresh</a:t>
            </a:r>
            <a:endParaRPr b="1" sz="1500" u="sng">
              <a:solidFill>
                <a:srgbClr val="000000"/>
              </a:solidFill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00000"/>
                </a:solidFill>
              </a:rPr>
              <a:t>Frozen (1 month shelf life) </a:t>
            </a:r>
            <a:endParaRPr sz="1500">
              <a:solidFill>
                <a:srgbClr val="000000"/>
              </a:solidFill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00000"/>
                </a:solidFill>
              </a:rPr>
              <a:t>Fresh (3-4 days of shelf life) </a:t>
            </a:r>
            <a:endParaRPr sz="1500">
              <a:solidFill>
                <a:srgbClr val="000000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Karla"/>
              <a:buNone/>
            </a:pPr>
            <a:r>
              <a:rPr b="0" i="0" lang="en" sz="2000" u="none" cap="none" strike="noStrik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 </a:t>
            </a:r>
            <a:endParaRPr b="0" i="0" sz="2000" u="none" cap="none" strike="noStrike">
              <a:solidFill>
                <a:schemeClr val="dk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500" name="Google Shape;500;g31a4bfe9e73_0_47"/>
          <p:cNvSpPr txBox="1"/>
          <p:nvPr>
            <p:ph type="title"/>
          </p:nvPr>
        </p:nvSpPr>
        <p:spPr>
          <a:xfrm>
            <a:off x="1846950" y="403100"/>
            <a:ext cx="5008800" cy="67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Key Attributes</a:t>
            </a:r>
            <a:endParaRPr sz="3000"/>
          </a:p>
        </p:txBody>
      </p:sp>
      <p:sp>
        <p:nvSpPr>
          <p:cNvPr id="501" name="Google Shape;501;g31a4bfe9e73_0_47"/>
          <p:cNvSpPr txBox="1"/>
          <p:nvPr/>
        </p:nvSpPr>
        <p:spPr>
          <a:xfrm>
            <a:off x="831675" y="2521850"/>
            <a:ext cx="3000000" cy="6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 u="sng">
                <a:latin typeface="Karla"/>
                <a:ea typeface="Karla"/>
                <a:cs typeface="Karla"/>
                <a:sym typeface="Karla"/>
              </a:rPr>
              <a:t>Meal Price</a:t>
            </a:r>
            <a:br>
              <a:rPr lang="en" sz="1500">
                <a:latin typeface="Karla"/>
                <a:ea typeface="Karla"/>
                <a:cs typeface="Karla"/>
                <a:sym typeface="Karla"/>
              </a:rPr>
            </a:br>
            <a:r>
              <a:rPr lang="en" sz="1500">
                <a:latin typeface="Karla"/>
                <a:ea typeface="Karla"/>
                <a:cs typeface="Karla"/>
                <a:sym typeface="Karla"/>
              </a:rPr>
              <a:t>$9, $12, or $15 </a:t>
            </a:r>
            <a:endParaRPr sz="1500"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502" name="Google Shape;502;g31a4bfe9e73_0_47"/>
          <p:cNvSpPr txBox="1"/>
          <p:nvPr/>
        </p:nvSpPr>
        <p:spPr>
          <a:xfrm>
            <a:off x="808775" y="3489300"/>
            <a:ext cx="3791100" cy="9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 u="sng">
                <a:latin typeface="Karla"/>
                <a:ea typeface="Karla"/>
                <a:cs typeface="Karla"/>
                <a:sym typeface="Karla"/>
              </a:rPr>
              <a:t>Rotating Menu</a:t>
            </a:r>
            <a:endParaRPr b="1" sz="1500" u="sng">
              <a:latin typeface="Karla"/>
              <a:ea typeface="Karla"/>
              <a:cs typeface="Karla"/>
              <a:sym typeface="Karla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Karla"/>
                <a:ea typeface="Karla"/>
                <a:cs typeface="Karla"/>
                <a:sym typeface="Karla"/>
              </a:rPr>
              <a:t>Yes: the menu changes every week </a:t>
            </a:r>
            <a:endParaRPr sz="1500">
              <a:latin typeface="Karla"/>
              <a:ea typeface="Karla"/>
              <a:cs typeface="Karla"/>
              <a:sym typeface="Karla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Karla"/>
                <a:ea typeface="Karla"/>
                <a:cs typeface="Karla"/>
                <a:sym typeface="Karla"/>
              </a:rPr>
              <a:t>No: the menu is fixed </a:t>
            </a:r>
            <a:endParaRPr sz="1500"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503" name="Google Shape;503;g31a4bfe9e73_0_47"/>
          <p:cNvSpPr txBox="1"/>
          <p:nvPr/>
        </p:nvSpPr>
        <p:spPr>
          <a:xfrm>
            <a:off x="4670175" y="1290425"/>
            <a:ext cx="4356900" cy="9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45720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 u="sng">
                <a:latin typeface="Karla"/>
                <a:ea typeface="Karla"/>
                <a:cs typeface="Karla"/>
                <a:sym typeface="Karla"/>
              </a:rPr>
              <a:t>Vegan/Vegetarian Dish</a:t>
            </a:r>
            <a:endParaRPr b="1" sz="1500" u="sng">
              <a:latin typeface="Karla"/>
              <a:ea typeface="Karla"/>
              <a:cs typeface="Karla"/>
              <a:sym typeface="Karl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Karla"/>
                <a:ea typeface="Karla"/>
                <a:cs typeface="Karla"/>
                <a:sym typeface="Karla"/>
              </a:rPr>
              <a:t>          Yes: This is a vegan or vegetarian dish</a:t>
            </a:r>
            <a:endParaRPr sz="1500">
              <a:latin typeface="Karla"/>
              <a:ea typeface="Karla"/>
              <a:cs typeface="Karla"/>
              <a:sym typeface="Karl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Karla"/>
                <a:ea typeface="Karla"/>
                <a:cs typeface="Karla"/>
                <a:sym typeface="Karla"/>
              </a:rPr>
              <a:t>          No: The product is not vegetarian-friendly</a:t>
            </a:r>
            <a:endParaRPr sz="1500"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504" name="Google Shape;504;g31a4bfe9e73_0_47"/>
          <p:cNvSpPr txBox="1"/>
          <p:nvPr/>
        </p:nvSpPr>
        <p:spPr>
          <a:xfrm>
            <a:off x="4670175" y="2385100"/>
            <a:ext cx="4234800" cy="121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 u="sng">
                <a:latin typeface="Karla"/>
                <a:ea typeface="Karla"/>
                <a:cs typeface="Karla"/>
                <a:sym typeface="Karla"/>
              </a:rPr>
              <a:t>Portion Size</a:t>
            </a:r>
            <a:endParaRPr b="1" sz="1500" u="sng">
              <a:latin typeface="Karla"/>
              <a:ea typeface="Karla"/>
              <a:cs typeface="Karla"/>
              <a:sym typeface="Karla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Karla"/>
                <a:ea typeface="Karla"/>
                <a:cs typeface="Karla"/>
                <a:sym typeface="Karla"/>
              </a:rPr>
              <a:t>Medium (500-700 calories)</a:t>
            </a:r>
            <a:endParaRPr sz="1500">
              <a:latin typeface="Karla"/>
              <a:ea typeface="Karla"/>
              <a:cs typeface="Karla"/>
              <a:sym typeface="Karla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Karla"/>
                <a:ea typeface="Karla"/>
                <a:cs typeface="Karla"/>
                <a:sym typeface="Karla"/>
              </a:rPr>
              <a:t>Large (700-900 calories)</a:t>
            </a:r>
            <a:endParaRPr sz="1500">
              <a:latin typeface="Karla"/>
              <a:ea typeface="Karla"/>
              <a:cs typeface="Karla"/>
              <a:sym typeface="Karl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Karla"/>
              <a:ea typeface="Karla"/>
              <a:cs typeface="Karla"/>
              <a:sym typeface="Karla"/>
            </a:endParaRPr>
          </a:p>
        </p:txBody>
      </p:sp>
      <p:pic>
        <p:nvPicPr>
          <p:cNvPr id="505" name="Google Shape;505;g31a4bfe9e73_0_4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6927" y="1680300"/>
            <a:ext cx="527675" cy="527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06" name="Google Shape;506;g31a4bfe9e73_0_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0123" y="2693923"/>
            <a:ext cx="421350" cy="421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7" name="Google Shape;507;g31a4bfe9e73_0_4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89312" y="3721087"/>
            <a:ext cx="482925" cy="482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08" name="Google Shape;508;g31a4bfe9e73_0_4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528837" y="1522212"/>
            <a:ext cx="482925" cy="482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09" name="Google Shape;509;g31a4bfe9e73_0_4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479313" y="2613661"/>
            <a:ext cx="581949" cy="5819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p10"/>
          <p:cNvSpPr/>
          <p:nvPr/>
        </p:nvSpPr>
        <p:spPr>
          <a:xfrm>
            <a:off x="0" y="17850"/>
            <a:ext cx="9144000" cy="5107800"/>
          </a:xfrm>
          <a:prstGeom prst="rect">
            <a:avLst/>
          </a:prstGeom>
          <a:solidFill>
            <a:srgbClr val="F1EBE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grpSp>
        <p:nvGrpSpPr>
          <p:cNvPr id="515" name="Google Shape;515;p10"/>
          <p:cNvGrpSpPr/>
          <p:nvPr/>
        </p:nvGrpSpPr>
        <p:grpSpPr>
          <a:xfrm>
            <a:off x="808775" y="287750"/>
            <a:ext cx="906600" cy="906600"/>
            <a:chOff x="3307125" y="1789650"/>
            <a:chExt cx="906600" cy="906600"/>
          </a:xfrm>
        </p:grpSpPr>
        <p:sp>
          <p:nvSpPr>
            <p:cNvPr id="516" name="Google Shape;516;p10"/>
            <p:cNvSpPr/>
            <p:nvPr/>
          </p:nvSpPr>
          <p:spPr>
            <a:xfrm>
              <a:off x="3307125" y="1789650"/>
              <a:ext cx="906600" cy="9066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7" name="Google Shape;517;p10"/>
            <p:cNvSpPr/>
            <p:nvPr/>
          </p:nvSpPr>
          <p:spPr>
            <a:xfrm>
              <a:off x="3383775" y="1866325"/>
              <a:ext cx="753300" cy="753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18" name="Google Shape;518;p10"/>
          <p:cNvSpPr txBox="1"/>
          <p:nvPr>
            <p:ph idx="4294967295" type="title"/>
          </p:nvPr>
        </p:nvSpPr>
        <p:spPr>
          <a:xfrm>
            <a:off x="808775" y="477200"/>
            <a:ext cx="9066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519" name="Google Shape;519;p10"/>
          <p:cNvSpPr txBox="1"/>
          <p:nvPr>
            <p:ph type="title"/>
          </p:nvPr>
        </p:nvSpPr>
        <p:spPr>
          <a:xfrm>
            <a:off x="1862350" y="403100"/>
            <a:ext cx="4654500" cy="67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Behavioral Questions </a:t>
            </a:r>
            <a:endParaRPr sz="3000"/>
          </a:p>
        </p:txBody>
      </p:sp>
      <p:sp>
        <p:nvSpPr>
          <p:cNvPr id="520" name="Google Shape;520;p10"/>
          <p:cNvSpPr txBox="1"/>
          <p:nvPr>
            <p:ph idx="4294967295" type="subTitle"/>
          </p:nvPr>
        </p:nvSpPr>
        <p:spPr>
          <a:xfrm>
            <a:off x="924625" y="1651000"/>
            <a:ext cx="7431900" cy="26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Karla"/>
              <a:buChar char="●"/>
            </a:pPr>
            <a:r>
              <a:rPr lang="en" sz="1800">
                <a:solidFill>
                  <a:srgbClr val="000000"/>
                </a:solidFill>
              </a:rPr>
              <a:t>Age Group</a:t>
            </a:r>
            <a:endParaRPr sz="1800">
              <a:solidFill>
                <a:srgbClr val="000000"/>
              </a:solidFill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Karla"/>
              <a:buChar char="●"/>
            </a:pPr>
            <a:r>
              <a:rPr lang="en" sz="1800">
                <a:solidFill>
                  <a:srgbClr val="000000"/>
                </a:solidFill>
              </a:rPr>
              <a:t>Role at USC</a:t>
            </a:r>
            <a:endParaRPr sz="1800">
              <a:solidFill>
                <a:srgbClr val="000000"/>
              </a:solidFill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 sz="1800">
                <a:solidFill>
                  <a:srgbClr val="000000"/>
                </a:solidFill>
              </a:rPr>
              <a:t>Gender Identity</a:t>
            </a:r>
            <a:endParaRPr sz="1800">
              <a:solidFill>
                <a:srgbClr val="000000"/>
              </a:solidFill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 sz="1800">
                <a:solidFill>
                  <a:srgbClr val="000000"/>
                </a:solidFill>
              </a:rPr>
              <a:t>Meal Purchase Habits: </a:t>
            </a:r>
            <a:endParaRPr sz="1800">
              <a:solidFill>
                <a:srgbClr val="000000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</a:rPr>
              <a:t>How often do you purchase meals at school per week?</a:t>
            </a:r>
            <a:endParaRPr sz="18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g31a917fecd2_0_27"/>
          <p:cNvSpPr/>
          <p:nvPr/>
        </p:nvSpPr>
        <p:spPr>
          <a:xfrm>
            <a:off x="-17700" y="1024800"/>
            <a:ext cx="9179400" cy="4118700"/>
          </a:xfrm>
          <a:prstGeom prst="rect">
            <a:avLst/>
          </a:prstGeom>
          <a:solidFill>
            <a:srgbClr val="F1EBE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526" name="Google Shape;526;g31a917fecd2_0_27"/>
          <p:cNvSpPr txBox="1"/>
          <p:nvPr>
            <p:ph type="title"/>
          </p:nvPr>
        </p:nvSpPr>
        <p:spPr>
          <a:xfrm>
            <a:off x="1064150" y="287750"/>
            <a:ext cx="7407900" cy="84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Analysis: </a:t>
            </a:r>
            <a:r>
              <a:rPr lang="en"/>
              <a:t>Survey Demographics </a:t>
            </a:r>
            <a:endParaRPr/>
          </a:p>
        </p:txBody>
      </p:sp>
      <p:sp>
        <p:nvSpPr>
          <p:cNvPr id="527" name="Google Shape;527;g31a917fecd2_0_27"/>
          <p:cNvSpPr txBox="1"/>
          <p:nvPr/>
        </p:nvSpPr>
        <p:spPr>
          <a:xfrm>
            <a:off x="213875" y="1241725"/>
            <a:ext cx="8636100" cy="346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Font typeface="Karla"/>
              <a:buChar char="●"/>
            </a:pPr>
            <a:r>
              <a:rPr lang="en" sz="1700">
                <a:latin typeface="Karla"/>
                <a:ea typeface="Karla"/>
                <a:cs typeface="Karla"/>
                <a:sym typeface="Karla"/>
              </a:rPr>
              <a:t>Survey completed by a total of </a:t>
            </a:r>
            <a:r>
              <a:rPr b="1" lang="en" sz="1700">
                <a:latin typeface="Karla"/>
                <a:ea typeface="Karla"/>
                <a:cs typeface="Karla"/>
                <a:sym typeface="Karla"/>
              </a:rPr>
              <a:t>100 respondents</a:t>
            </a:r>
            <a:r>
              <a:rPr lang="en" sz="1700">
                <a:latin typeface="Karla"/>
                <a:ea typeface="Karla"/>
                <a:cs typeface="Karla"/>
                <a:sym typeface="Karla"/>
              </a:rPr>
              <a:t>, </a:t>
            </a:r>
            <a:endParaRPr sz="1700">
              <a:latin typeface="Karla"/>
              <a:ea typeface="Karla"/>
              <a:cs typeface="Karla"/>
              <a:sym typeface="Karla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Karla"/>
                <a:ea typeface="Karla"/>
                <a:cs typeface="Karla"/>
                <a:sym typeface="Karla"/>
              </a:rPr>
              <a:t>with an average response time of </a:t>
            </a:r>
            <a:r>
              <a:rPr b="1" lang="en" sz="1700">
                <a:latin typeface="Karla"/>
                <a:ea typeface="Karla"/>
                <a:cs typeface="Karla"/>
                <a:sym typeface="Karla"/>
              </a:rPr>
              <a:t>4 minutes</a:t>
            </a:r>
            <a:endParaRPr b="1" sz="1700">
              <a:latin typeface="Karla"/>
              <a:ea typeface="Karla"/>
              <a:cs typeface="Karla"/>
              <a:sym typeface="Karla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latin typeface="Karla"/>
              <a:ea typeface="Karla"/>
              <a:cs typeface="Karla"/>
              <a:sym typeface="Karla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Font typeface="Karla"/>
              <a:buChar char="●"/>
            </a:pPr>
            <a:r>
              <a:rPr lang="en" sz="1700">
                <a:latin typeface="Karla"/>
                <a:ea typeface="Karla"/>
                <a:cs typeface="Karla"/>
                <a:sym typeface="Karla"/>
              </a:rPr>
              <a:t>Most of our survey respondents are </a:t>
            </a:r>
            <a:r>
              <a:rPr b="1" lang="en" sz="1700">
                <a:latin typeface="Karla"/>
                <a:ea typeface="Karla"/>
                <a:cs typeface="Karla"/>
                <a:sym typeface="Karla"/>
              </a:rPr>
              <a:t>graduate students aged between 22 and 34</a:t>
            </a:r>
            <a:endParaRPr b="1" sz="1700">
              <a:latin typeface="Karla"/>
              <a:ea typeface="Karla"/>
              <a:cs typeface="Karla"/>
              <a:sym typeface="Karla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latin typeface="Karla"/>
              <a:ea typeface="Karla"/>
              <a:cs typeface="Karla"/>
              <a:sym typeface="Karla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Font typeface="Karla"/>
              <a:buChar char="●"/>
            </a:pPr>
            <a:r>
              <a:rPr lang="en" sz="1700">
                <a:latin typeface="Karla"/>
                <a:ea typeface="Karla"/>
                <a:cs typeface="Karla"/>
                <a:sym typeface="Karla"/>
              </a:rPr>
              <a:t>64% of the respondents are male, while 36% are female</a:t>
            </a:r>
            <a:endParaRPr sz="1700">
              <a:latin typeface="Karla"/>
              <a:ea typeface="Karla"/>
              <a:cs typeface="Karla"/>
              <a:sym typeface="Karla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latin typeface="Karla"/>
              <a:ea typeface="Karla"/>
              <a:cs typeface="Karla"/>
              <a:sym typeface="Karla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Font typeface="Karla"/>
              <a:buChar char="●"/>
            </a:pPr>
            <a:r>
              <a:rPr b="1" lang="en" sz="1700">
                <a:latin typeface="Karla"/>
                <a:ea typeface="Karla"/>
                <a:cs typeface="Karla"/>
                <a:sym typeface="Karla"/>
              </a:rPr>
              <a:t>65% of the respondents purchase meals at school 1-3 times per week</a:t>
            </a:r>
            <a:r>
              <a:rPr lang="en" sz="1700">
                <a:latin typeface="Karla"/>
                <a:ea typeface="Karla"/>
                <a:cs typeface="Karla"/>
                <a:sym typeface="Karla"/>
              </a:rPr>
              <a:t>, </a:t>
            </a:r>
            <a:endParaRPr sz="1700">
              <a:latin typeface="Karla"/>
              <a:ea typeface="Karla"/>
              <a:cs typeface="Karla"/>
              <a:sym typeface="Karla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Karla"/>
                <a:ea typeface="Karla"/>
                <a:cs typeface="Karla"/>
                <a:sym typeface="Karla"/>
              </a:rPr>
              <a:t>13% purchase meals at school more than 3 times per week, </a:t>
            </a:r>
            <a:endParaRPr sz="1700">
              <a:latin typeface="Karla"/>
              <a:ea typeface="Karla"/>
              <a:cs typeface="Karla"/>
              <a:sym typeface="Karla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Karla"/>
                <a:ea typeface="Karla"/>
                <a:cs typeface="Karla"/>
                <a:sym typeface="Karla"/>
              </a:rPr>
              <a:t>and 22% never purchase meals at school</a:t>
            </a:r>
            <a:endParaRPr sz="1700">
              <a:latin typeface="Karla"/>
              <a:ea typeface="Karla"/>
              <a:cs typeface="Karla"/>
              <a:sym typeface="Karl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28" name="Google Shape;528;g31a917fecd2_0_27"/>
          <p:cNvGrpSpPr/>
          <p:nvPr/>
        </p:nvGrpSpPr>
        <p:grpSpPr>
          <a:xfrm>
            <a:off x="808775" y="287750"/>
            <a:ext cx="906600" cy="906600"/>
            <a:chOff x="3307125" y="1789650"/>
            <a:chExt cx="906600" cy="906600"/>
          </a:xfrm>
        </p:grpSpPr>
        <p:sp>
          <p:nvSpPr>
            <p:cNvPr id="529" name="Google Shape;529;g31a917fecd2_0_27"/>
            <p:cNvSpPr/>
            <p:nvPr/>
          </p:nvSpPr>
          <p:spPr>
            <a:xfrm>
              <a:off x="3307125" y="1789650"/>
              <a:ext cx="906600" cy="9066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0" name="Google Shape;530;g31a917fecd2_0_27"/>
            <p:cNvSpPr/>
            <p:nvPr/>
          </p:nvSpPr>
          <p:spPr>
            <a:xfrm>
              <a:off x="3383775" y="1866325"/>
              <a:ext cx="753300" cy="753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31" name="Google Shape;531;g31a917fecd2_0_27"/>
          <p:cNvSpPr txBox="1"/>
          <p:nvPr>
            <p:ph idx="4294967295" type="title"/>
          </p:nvPr>
        </p:nvSpPr>
        <p:spPr>
          <a:xfrm>
            <a:off x="808775" y="477200"/>
            <a:ext cx="9066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03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g31a917fecd2_0_22"/>
          <p:cNvSpPr/>
          <p:nvPr/>
        </p:nvSpPr>
        <p:spPr>
          <a:xfrm>
            <a:off x="-17700" y="1024800"/>
            <a:ext cx="9179400" cy="4118700"/>
          </a:xfrm>
          <a:prstGeom prst="rect">
            <a:avLst/>
          </a:prstGeom>
          <a:solidFill>
            <a:srgbClr val="F1EBE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537" name="Google Shape;537;g31a917fecd2_0_22"/>
          <p:cNvSpPr txBox="1"/>
          <p:nvPr>
            <p:ph type="title"/>
          </p:nvPr>
        </p:nvSpPr>
        <p:spPr>
          <a:xfrm>
            <a:off x="720000" y="454700"/>
            <a:ext cx="77040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Analysis: </a:t>
            </a:r>
            <a:r>
              <a:rPr lang="en"/>
              <a:t>Willingness-To-Pay</a:t>
            </a:r>
            <a:endParaRPr/>
          </a:p>
        </p:txBody>
      </p:sp>
      <p:sp>
        <p:nvSpPr>
          <p:cNvPr id="538" name="Google Shape;538;g31a917fecd2_0_22"/>
          <p:cNvSpPr txBox="1"/>
          <p:nvPr/>
        </p:nvSpPr>
        <p:spPr>
          <a:xfrm>
            <a:off x="492450" y="1272500"/>
            <a:ext cx="8159100" cy="35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Willingness-To-Pay for an attribute level change is the max $ amount a customer would pay for the change.</a:t>
            </a:r>
            <a:endParaRPr sz="1600">
              <a:solidFill>
                <a:schemeClr val="dk1"/>
              </a:solidFill>
              <a:latin typeface="Karla"/>
              <a:ea typeface="Karla"/>
              <a:cs typeface="Karla"/>
              <a:sym typeface="Karla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Karla"/>
              <a:ea typeface="Karla"/>
              <a:cs typeface="Karla"/>
              <a:sym typeface="Karla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WTP = Utility difference * Price per Utility Unit</a:t>
            </a:r>
            <a:endParaRPr sz="1600">
              <a:solidFill>
                <a:schemeClr val="dk1"/>
              </a:solidFill>
              <a:latin typeface="Karla"/>
              <a:ea typeface="Karla"/>
              <a:cs typeface="Karla"/>
              <a:sym typeface="Karla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Karla"/>
              <a:ea typeface="Karla"/>
              <a:cs typeface="Karla"/>
              <a:sym typeface="Karla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Dollar value of 1 utility = 0.036</a:t>
            </a:r>
            <a:endParaRPr sz="1600">
              <a:solidFill>
                <a:schemeClr val="dk1"/>
              </a:solidFill>
              <a:latin typeface="Karla"/>
              <a:ea typeface="Karla"/>
              <a:cs typeface="Karla"/>
              <a:sym typeface="Karla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Karla"/>
              <a:buChar char="●"/>
            </a:pPr>
            <a:r>
              <a:rPr lang="en" sz="16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Customers are willing to pay </a:t>
            </a:r>
            <a:r>
              <a:rPr b="1" lang="en" sz="16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$3.87 more for Fresh over Frozen</a:t>
            </a:r>
            <a:r>
              <a:rPr lang="en" sz="16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.</a:t>
            </a:r>
            <a:endParaRPr sz="1600">
              <a:solidFill>
                <a:schemeClr val="dk1"/>
              </a:solidFill>
              <a:latin typeface="Karla"/>
              <a:ea typeface="Karla"/>
              <a:cs typeface="Karla"/>
              <a:sym typeface="Karla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Karla"/>
              <a:buChar char="●"/>
            </a:pPr>
            <a:r>
              <a:rPr lang="en" sz="16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Customers are willing to pay </a:t>
            </a:r>
            <a:r>
              <a:rPr b="1" lang="en" sz="16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$0.03 more for a Vegan/Vegetarian Dish.</a:t>
            </a:r>
            <a:endParaRPr b="1" sz="1600">
              <a:solidFill>
                <a:schemeClr val="dk1"/>
              </a:solidFill>
              <a:latin typeface="Karla"/>
              <a:ea typeface="Karla"/>
              <a:cs typeface="Karla"/>
              <a:sym typeface="Karla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Karla"/>
              <a:buChar char="●"/>
            </a:pPr>
            <a:r>
              <a:rPr lang="en" sz="16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Customers are willing to pay </a:t>
            </a:r>
            <a:r>
              <a:rPr b="1" lang="en" sz="16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$1.91 more for a Rotating Menu.</a:t>
            </a:r>
            <a:endParaRPr b="1" sz="1600">
              <a:solidFill>
                <a:schemeClr val="dk1"/>
              </a:solidFill>
              <a:latin typeface="Karla"/>
              <a:ea typeface="Karla"/>
              <a:cs typeface="Karla"/>
              <a:sym typeface="Karla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Karla"/>
              <a:buChar char="●"/>
            </a:pPr>
            <a:r>
              <a:rPr lang="en" sz="16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Customers are willing to pay </a:t>
            </a:r>
            <a:r>
              <a:rPr b="1" lang="en" sz="16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$0.16 more for a Large Portion over Medium.</a:t>
            </a:r>
            <a:endParaRPr b="1" sz="1600">
              <a:solidFill>
                <a:schemeClr val="dk1"/>
              </a:solidFill>
              <a:latin typeface="Karla"/>
              <a:ea typeface="Karla"/>
              <a:cs typeface="Karla"/>
              <a:sym typeface="Karl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grpSp>
        <p:nvGrpSpPr>
          <p:cNvPr id="539" name="Google Shape;539;g31a917fecd2_0_22"/>
          <p:cNvGrpSpPr/>
          <p:nvPr/>
        </p:nvGrpSpPr>
        <p:grpSpPr>
          <a:xfrm>
            <a:off x="808775" y="287750"/>
            <a:ext cx="906600" cy="906600"/>
            <a:chOff x="3307125" y="1789650"/>
            <a:chExt cx="906600" cy="906600"/>
          </a:xfrm>
        </p:grpSpPr>
        <p:sp>
          <p:nvSpPr>
            <p:cNvPr id="540" name="Google Shape;540;g31a917fecd2_0_22"/>
            <p:cNvSpPr/>
            <p:nvPr/>
          </p:nvSpPr>
          <p:spPr>
            <a:xfrm>
              <a:off x="3307125" y="1789650"/>
              <a:ext cx="906600" cy="9066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1" name="Google Shape;541;g31a917fecd2_0_22"/>
            <p:cNvSpPr/>
            <p:nvPr/>
          </p:nvSpPr>
          <p:spPr>
            <a:xfrm>
              <a:off x="3383775" y="1866325"/>
              <a:ext cx="753300" cy="753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42" name="Google Shape;542;g31a917fecd2_0_22"/>
          <p:cNvSpPr txBox="1"/>
          <p:nvPr>
            <p:ph idx="4294967295" type="title"/>
          </p:nvPr>
        </p:nvSpPr>
        <p:spPr>
          <a:xfrm>
            <a:off x="808775" y="477200"/>
            <a:ext cx="9066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03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6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7" name="Google Shape;547;g31b72a673d9_10_5"/>
          <p:cNvPicPr preferRelativeResize="0"/>
          <p:nvPr/>
        </p:nvPicPr>
        <p:blipFill rotWithShape="1">
          <a:blip r:embed="rId3">
            <a:alphaModFix/>
          </a:blip>
          <a:srcRect b="11909" l="0" r="0" t="0"/>
          <a:stretch/>
        </p:blipFill>
        <p:spPr>
          <a:xfrm>
            <a:off x="456200" y="688700"/>
            <a:ext cx="4076974" cy="3282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48" name="Google Shape;548;g31b72a673d9_10_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75104" y="245975"/>
            <a:ext cx="3944896" cy="3373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49" name="Google Shape;549;g31b72a673d9_10_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75100" y="3619629"/>
            <a:ext cx="3944901" cy="13372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3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4" name="Google Shape;554;g31b72a673d9_1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9150" y="442425"/>
            <a:ext cx="7606226" cy="4339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8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g31a5ac5c9e7_0_0"/>
          <p:cNvSpPr/>
          <p:nvPr/>
        </p:nvSpPr>
        <p:spPr>
          <a:xfrm>
            <a:off x="76975" y="17850"/>
            <a:ext cx="9144000" cy="5107800"/>
          </a:xfrm>
          <a:prstGeom prst="rect">
            <a:avLst/>
          </a:prstGeom>
          <a:solidFill>
            <a:srgbClr val="F1EBE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latin typeface="Karla"/>
                <a:ea typeface="Karla"/>
                <a:cs typeface="Karla"/>
                <a:sym typeface="Karla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560" name="Google Shape;560;g31a5ac5c9e7_0_0"/>
          <p:cNvSpPr/>
          <p:nvPr/>
        </p:nvSpPr>
        <p:spPr>
          <a:xfrm>
            <a:off x="4891650" y="1576800"/>
            <a:ext cx="4142700" cy="3018900"/>
          </a:xfrm>
          <a:prstGeom prst="rect">
            <a:avLst/>
          </a:prstGeom>
          <a:noFill/>
          <a:ln cap="flat" cmpd="sng" w="19050">
            <a:solidFill>
              <a:srgbClr val="D1490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561" name="Google Shape;561;g31a5ac5c9e7_0_0"/>
          <p:cNvSpPr/>
          <p:nvPr/>
        </p:nvSpPr>
        <p:spPr>
          <a:xfrm>
            <a:off x="1715375" y="1576800"/>
            <a:ext cx="3047700" cy="3035400"/>
          </a:xfrm>
          <a:prstGeom prst="rect">
            <a:avLst/>
          </a:prstGeom>
          <a:noFill/>
          <a:ln cap="flat" cmpd="sng" w="19050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Karla"/>
              <a:ea typeface="Karla"/>
              <a:cs typeface="Karla"/>
              <a:sym typeface="Karla"/>
            </a:endParaRPr>
          </a:p>
        </p:txBody>
      </p:sp>
      <p:grpSp>
        <p:nvGrpSpPr>
          <p:cNvPr id="562" name="Google Shape;562;g31a5ac5c9e7_0_0"/>
          <p:cNvGrpSpPr/>
          <p:nvPr/>
        </p:nvGrpSpPr>
        <p:grpSpPr>
          <a:xfrm>
            <a:off x="808775" y="287750"/>
            <a:ext cx="906600" cy="906600"/>
            <a:chOff x="3307125" y="1789650"/>
            <a:chExt cx="906600" cy="906600"/>
          </a:xfrm>
        </p:grpSpPr>
        <p:sp>
          <p:nvSpPr>
            <p:cNvPr id="563" name="Google Shape;563;g31a5ac5c9e7_0_0"/>
            <p:cNvSpPr/>
            <p:nvPr/>
          </p:nvSpPr>
          <p:spPr>
            <a:xfrm>
              <a:off x="3307125" y="1789650"/>
              <a:ext cx="906600" cy="9066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4" name="Google Shape;564;g31a5ac5c9e7_0_0"/>
            <p:cNvSpPr/>
            <p:nvPr/>
          </p:nvSpPr>
          <p:spPr>
            <a:xfrm>
              <a:off x="3383775" y="1866325"/>
              <a:ext cx="753300" cy="753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65" name="Google Shape;565;g31a5ac5c9e7_0_0"/>
          <p:cNvSpPr txBox="1"/>
          <p:nvPr>
            <p:ph idx="4294967295" type="title"/>
          </p:nvPr>
        </p:nvSpPr>
        <p:spPr>
          <a:xfrm>
            <a:off x="808775" y="477200"/>
            <a:ext cx="9066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566" name="Google Shape;566;g31a5ac5c9e7_0_0"/>
          <p:cNvSpPr txBox="1"/>
          <p:nvPr>
            <p:ph type="title"/>
          </p:nvPr>
        </p:nvSpPr>
        <p:spPr>
          <a:xfrm>
            <a:off x="1846950" y="364650"/>
            <a:ext cx="5124300" cy="67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Segmentation Analysis</a:t>
            </a:r>
            <a:endParaRPr sz="3000"/>
          </a:p>
        </p:txBody>
      </p:sp>
      <p:graphicFrame>
        <p:nvGraphicFramePr>
          <p:cNvPr id="567" name="Google Shape;567;g31a5ac5c9e7_0_0"/>
          <p:cNvGraphicFramePr/>
          <p:nvPr/>
        </p:nvGraphicFramePr>
        <p:xfrm>
          <a:off x="76975" y="15088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{9BB79891-C1E0-444F-8AAC-7BFD1D1877D0}</a:tableStyleId>
              </a:tblPr>
              <a:tblGrid>
                <a:gridCol w="523225"/>
                <a:gridCol w="523225"/>
                <a:gridCol w="523225"/>
              </a:tblGrid>
              <a:tr h="3118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Karla"/>
                          <a:ea typeface="Karla"/>
                          <a:cs typeface="Karla"/>
                          <a:sym typeface="Karla"/>
                        </a:rPr>
                        <a:t>Groups</a:t>
                      </a:r>
                      <a:endParaRPr b="1" sz="1000"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B6D7A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6D7A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6D7A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B7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Karla"/>
                          <a:ea typeface="Karla"/>
                          <a:cs typeface="Karla"/>
                          <a:sym typeface="Karla"/>
                        </a:rPr>
                        <a:t>AIC</a:t>
                      </a:r>
                      <a:endParaRPr b="1" sz="1000"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B6D7A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6D7A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6D7A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B7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Karla"/>
                          <a:ea typeface="Karla"/>
                          <a:cs typeface="Karla"/>
                          <a:sym typeface="Karla"/>
                        </a:rPr>
                        <a:t>BIC</a:t>
                      </a:r>
                      <a:endParaRPr b="1" sz="1000"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B6D7A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6D7A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6D7A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B7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18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Karla"/>
                          <a:ea typeface="Karla"/>
                          <a:cs typeface="Karla"/>
                          <a:sym typeface="Karla"/>
                        </a:rPr>
                        <a:t>1</a:t>
                      </a:r>
                      <a:endParaRPr sz="1000"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A5B7C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B7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B7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B7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Karla"/>
                          <a:ea typeface="Karla"/>
                          <a:cs typeface="Karla"/>
                          <a:sym typeface="Karla"/>
                        </a:rPr>
                        <a:t>915.96</a:t>
                      </a:r>
                      <a:endParaRPr sz="1000"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A5B7C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B7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B7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B7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Karla"/>
                          <a:ea typeface="Karla"/>
                          <a:cs typeface="Karla"/>
                          <a:sym typeface="Karla"/>
                        </a:rPr>
                        <a:t>943.90</a:t>
                      </a:r>
                      <a:endParaRPr sz="1000"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A5B7C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B7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B7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B7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18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Karla"/>
                          <a:ea typeface="Karla"/>
                          <a:cs typeface="Karla"/>
                          <a:sym typeface="Karla"/>
                        </a:rPr>
                        <a:t>2</a:t>
                      </a:r>
                      <a:endParaRPr sz="1000"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A5B7C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B7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B7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B7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Karla"/>
                          <a:ea typeface="Karla"/>
                          <a:cs typeface="Karla"/>
                          <a:sym typeface="Karla"/>
                        </a:rPr>
                        <a:t>869.54</a:t>
                      </a:r>
                      <a:endParaRPr sz="1000"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A5B7C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B7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B7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B7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Karla"/>
                          <a:ea typeface="Karla"/>
                          <a:cs typeface="Karla"/>
                          <a:sym typeface="Karla"/>
                        </a:rPr>
                        <a:t>929.42</a:t>
                      </a:r>
                      <a:endParaRPr sz="1000"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A5B7C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B7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B7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B7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18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Karla"/>
                          <a:ea typeface="Karla"/>
                          <a:cs typeface="Karla"/>
                          <a:sym typeface="Karla"/>
                        </a:rPr>
                        <a:t>3</a:t>
                      </a:r>
                      <a:endParaRPr sz="1000"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A5B7C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B7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B7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B7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Karla"/>
                          <a:ea typeface="Karla"/>
                          <a:cs typeface="Karla"/>
                          <a:sym typeface="Karla"/>
                        </a:rPr>
                        <a:t>832.27</a:t>
                      </a:r>
                      <a:endParaRPr sz="1000"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A5B7C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B7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B7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B7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FF0000"/>
                          </a:solidFill>
                          <a:latin typeface="Karla"/>
                          <a:ea typeface="Karla"/>
                          <a:cs typeface="Karla"/>
                          <a:sym typeface="Karla"/>
                        </a:rPr>
                        <a:t>924.08</a:t>
                      </a:r>
                      <a:endParaRPr b="1" sz="1000">
                        <a:solidFill>
                          <a:srgbClr val="FF0000"/>
                        </a:solidFill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A5B7C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B7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B7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B7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18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Karla"/>
                          <a:ea typeface="Karla"/>
                          <a:cs typeface="Karla"/>
                          <a:sym typeface="Karla"/>
                        </a:rPr>
                        <a:t>4</a:t>
                      </a:r>
                      <a:endParaRPr sz="1000"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A5B7C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B7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B7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B7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Karla"/>
                          <a:ea typeface="Karla"/>
                          <a:cs typeface="Karla"/>
                          <a:sym typeface="Karla"/>
                        </a:rPr>
                        <a:t>802.58</a:t>
                      </a:r>
                      <a:endParaRPr sz="1000"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A5B7C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B7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B7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B7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Karla"/>
                          <a:ea typeface="Karla"/>
                          <a:cs typeface="Karla"/>
                          <a:sym typeface="Karla"/>
                        </a:rPr>
                        <a:t>926.31</a:t>
                      </a:r>
                      <a:endParaRPr sz="1000"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A5B7C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B7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B7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B7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18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Karla"/>
                          <a:ea typeface="Karla"/>
                          <a:cs typeface="Karla"/>
                          <a:sym typeface="Karla"/>
                        </a:rPr>
                        <a:t>5</a:t>
                      </a:r>
                      <a:endParaRPr sz="1000"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A5B7C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B7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B7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B7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FF0000"/>
                          </a:solidFill>
                          <a:latin typeface="Karla"/>
                          <a:ea typeface="Karla"/>
                          <a:cs typeface="Karla"/>
                          <a:sym typeface="Karla"/>
                        </a:rPr>
                        <a:t>788.28</a:t>
                      </a:r>
                      <a:endParaRPr b="1" sz="1000">
                        <a:solidFill>
                          <a:srgbClr val="FF0000"/>
                        </a:solidFill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A5B7C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B7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B7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B7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Karla"/>
                          <a:ea typeface="Karla"/>
                          <a:cs typeface="Karla"/>
                          <a:sym typeface="Karla"/>
                        </a:rPr>
                        <a:t>943.95</a:t>
                      </a:r>
                      <a:endParaRPr sz="1000"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A5B7C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B7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B7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B7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568" name="Google Shape;568;g31a5ac5c9e7_0_0"/>
          <p:cNvGraphicFramePr/>
          <p:nvPr/>
        </p:nvGraphicFramePr>
        <p:xfrm>
          <a:off x="1715363" y="1598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{9BB79891-C1E0-444F-8AAC-7BFD1D1877D0}</a:tableStyleId>
              </a:tblPr>
              <a:tblGrid>
                <a:gridCol w="1526350"/>
                <a:gridCol w="447000"/>
                <a:gridCol w="446700"/>
                <a:gridCol w="591625"/>
              </a:tblGrid>
              <a:tr h="3665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Karla"/>
                          <a:ea typeface="Karla"/>
                          <a:cs typeface="Karla"/>
                          <a:sym typeface="Karla"/>
                        </a:rPr>
                        <a:t>3 Segment Sizes</a:t>
                      </a:r>
                      <a:endParaRPr b="1" sz="1000"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T="91425" marB="91425" marR="28575" marL="28575" anchor="ctr">
                    <a:lnL cap="flat" cmpd="sng" w="6350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Karla"/>
                          <a:ea typeface="Karla"/>
                          <a:cs typeface="Karla"/>
                          <a:sym typeface="Karla"/>
                        </a:rPr>
                        <a:t>12.1%</a:t>
                      </a:r>
                      <a:endParaRPr sz="1000"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T="91425" marB="91425" marR="28575" marL="28575" anchor="ctr">
                    <a:lnL cap="flat" cmpd="sng" w="6350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Karla"/>
                          <a:ea typeface="Karla"/>
                          <a:cs typeface="Karla"/>
                          <a:sym typeface="Karla"/>
                        </a:rPr>
                        <a:t>17.2%</a:t>
                      </a:r>
                      <a:endParaRPr sz="1000"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T="91425" marB="91425" marR="28575" marL="28575" anchor="ctr">
                    <a:lnL cap="flat" cmpd="sng" w="6350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Karla"/>
                          <a:ea typeface="Karla"/>
                          <a:cs typeface="Karla"/>
                          <a:sym typeface="Karla"/>
                        </a:rPr>
                        <a:t>70.7%</a:t>
                      </a:r>
                      <a:endParaRPr b="1" sz="1000"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T="91425" marB="91425" marR="28575" marL="28575" anchor="ctr">
                    <a:lnL cap="flat" cmpd="sng" w="6350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</a:tr>
              <a:tr h="366525">
                <a:tc gridSpan="4"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Karla"/>
                          <a:ea typeface="Karla"/>
                          <a:cs typeface="Karla"/>
                          <a:sym typeface="Karla"/>
                        </a:rPr>
                        <a:t>Attribute Importances</a:t>
                      </a:r>
                      <a:endParaRPr b="1" sz="1000"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T="91425" marB="91425" marR="28575" marL="28575" anchor="ctr">
                    <a:lnL cap="flat" cmpd="sng" w="6350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5B7C6"/>
                    </a:solidFill>
                  </a:tcPr>
                </a:tc>
                <a:tc hMerge="1"/>
                <a:tc hMerge="1"/>
                <a:tc hMerge="1"/>
              </a:tr>
              <a:tr h="3665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Karla"/>
                          <a:ea typeface="Karla"/>
                          <a:cs typeface="Karla"/>
                          <a:sym typeface="Karla"/>
                        </a:rPr>
                        <a:t>Frozen/Fresh</a:t>
                      </a:r>
                      <a:endParaRPr b="1" sz="1000"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T="91425" marB="91425" marR="28575" marL="28575" anchor="ctr">
                    <a:lnL cap="flat" cmpd="sng" w="6350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Karla"/>
                          <a:ea typeface="Karla"/>
                          <a:cs typeface="Karla"/>
                          <a:sym typeface="Karla"/>
                        </a:rPr>
                        <a:t>8.94</a:t>
                      </a:r>
                      <a:endParaRPr sz="1000"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T="91425" marB="91425" marR="28575" marL="28575" anchor="ctr">
                    <a:lnL cap="flat" cmpd="sng" w="6350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Karla"/>
                          <a:ea typeface="Karla"/>
                          <a:cs typeface="Karla"/>
                          <a:sym typeface="Karla"/>
                        </a:rPr>
                        <a:t>23.32</a:t>
                      </a:r>
                      <a:endParaRPr sz="1000"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T="91425" marB="91425" marR="28575" marL="28575" anchor="ctr">
                    <a:lnL cap="flat" cmpd="sng" w="6350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FF0000"/>
                          </a:solidFill>
                          <a:latin typeface="Karla"/>
                          <a:ea typeface="Karla"/>
                          <a:cs typeface="Karla"/>
                          <a:sym typeface="Karla"/>
                        </a:rPr>
                        <a:t>29.07</a:t>
                      </a:r>
                      <a:endParaRPr b="1" sz="1000">
                        <a:solidFill>
                          <a:srgbClr val="FF0000"/>
                        </a:solidFill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T="91425" marB="91425" marR="28575" marL="28575" anchor="ctr">
                    <a:lnL cap="flat" cmpd="sng" w="6350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65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Karla"/>
                          <a:ea typeface="Karla"/>
                          <a:cs typeface="Karla"/>
                          <a:sym typeface="Karla"/>
                        </a:rPr>
                        <a:t>Meal Price</a:t>
                      </a:r>
                      <a:endParaRPr b="1" sz="1000"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T="91425" marB="91425" marR="28575" marL="28575" anchor="ctr">
                    <a:lnL cap="flat" cmpd="sng" w="6350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FF0000"/>
                          </a:solidFill>
                          <a:latin typeface="Karla"/>
                          <a:ea typeface="Karla"/>
                          <a:cs typeface="Karla"/>
                          <a:sym typeface="Karla"/>
                        </a:rPr>
                        <a:t>66.19</a:t>
                      </a:r>
                      <a:endParaRPr b="1" sz="1000">
                        <a:solidFill>
                          <a:srgbClr val="FF0000"/>
                        </a:solidFill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T="91425" marB="91425" marR="28575" marL="28575" anchor="ctr">
                    <a:lnL cap="flat" cmpd="sng" w="6350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Karla"/>
                          <a:ea typeface="Karla"/>
                          <a:cs typeface="Karla"/>
                          <a:sym typeface="Karla"/>
                        </a:rPr>
                        <a:t>21.73</a:t>
                      </a:r>
                      <a:endParaRPr sz="1000"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T="91425" marB="91425" marR="28575" marL="28575" anchor="ctr">
                    <a:lnL cap="flat" cmpd="sng" w="6350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FF0000"/>
                          </a:solidFill>
                          <a:latin typeface="Karla"/>
                          <a:ea typeface="Karla"/>
                          <a:cs typeface="Karla"/>
                          <a:sym typeface="Karla"/>
                        </a:rPr>
                        <a:t>47.79</a:t>
                      </a:r>
                      <a:endParaRPr b="1" sz="1000">
                        <a:solidFill>
                          <a:srgbClr val="FF0000"/>
                        </a:solidFill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T="91425" marB="91425" marR="28575" marL="28575" anchor="ctr">
                    <a:lnL cap="flat" cmpd="sng" w="6350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65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Karla"/>
                          <a:ea typeface="Karla"/>
                          <a:cs typeface="Karla"/>
                          <a:sym typeface="Karla"/>
                        </a:rPr>
                        <a:t>Rotating Menu</a:t>
                      </a:r>
                      <a:endParaRPr b="1" sz="1000"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T="91425" marB="91425" marR="28575" marL="28575" anchor="ctr">
                    <a:lnL cap="flat" cmpd="sng" w="6350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Karla"/>
                          <a:ea typeface="Karla"/>
                          <a:cs typeface="Karla"/>
                          <a:sym typeface="Karla"/>
                        </a:rPr>
                        <a:t>4.48</a:t>
                      </a:r>
                      <a:endParaRPr sz="1000"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T="91425" marB="91425" marR="28575" marL="28575" anchor="ctr">
                    <a:lnL cap="flat" cmpd="sng" w="6350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Karla"/>
                          <a:ea typeface="Karla"/>
                          <a:cs typeface="Karla"/>
                          <a:sym typeface="Karla"/>
                        </a:rPr>
                        <a:t>0.69</a:t>
                      </a:r>
                      <a:endParaRPr sz="1000"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T="91425" marB="91425" marR="28575" marL="28575" anchor="ctr">
                    <a:lnL cap="flat" cmpd="sng" w="6350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Karla"/>
                          <a:ea typeface="Karla"/>
                          <a:cs typeface="Karla"/>
                          <a:sym typeface="Karla"/>
                        </a:rPr>
                        <a:t>13.17</a:t>
                      </a:r>
                      <a:endParaRPr sz="1000"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T="91425" marB="91425" marR="28575" marL="28575" anchor="ctr">
                    <a:lnL cap="flat" cmpd="sng" w="6350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65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Karla"/>
                          <a:ea typeface="Karla"/>
                          <a:cs typeface="Karla"/>
                          <a:sym typeface="Karla"/>
                        </a:rPr>
                        <a:t>Vegan/ Vegetarian Dish</a:t>
                      </a:r>
                      <a:endParaRPr b="1" sz="1000"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T="91425" marB="91425" marR="28575" marL="28575" anchor="ctr">
                    <a:lnL cap="flat" cmpd="sng" w="6350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Karla"/>
                          <a:ea typeface="Karla"/>
                          <a:cs typeface="Karla"/>
                          <a:sym typeface="Karla"/>
                        </a:rPr>
                        <a:t>14.28</a:t>
                      </a:r>
                      <a:endParaRPr sz="1000"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T="91425" marB="91425" marR="28575" marL="28575" anchor="ctr">
                    <a:lnL cap="flat" cmpd="sng" w="6350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FF0000"/>
                          </a:solidFill>
                          <a:latin typeface="Karla"/>
                          <a:ea typeface="Karla"/>
                          <a:cs typeface="Karla"/>
                          <a:sym typeface="Karla"/>
                        </a:rPr>
                        <a:t>52.59</a:t>
                      </a:r>
                      <a:endParaRPr b="1" sz="1000">
                        <a:solidFill>
                          <a:srgbClr val="FF0000"/>
                        </a:solidFill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T="91425" marB="91425" marR="28575" marL="28575" anchor="ctr">
                    <a:lnL cap="flat" cmpd="sng" w="6350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Karla"/>
                          <a:ea typeface="Karla"/>
                          <a:cs typeface="Karla"/>
                          <a:sym typeface="Karla"/>
                        </a:rPr>
                        <a:t>3.65</a:t>
                      </a:r>
                      <a:endParaRPr sz="1000"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T="91425" marB="91425" marR="28575" marL="28575" anchor="ctr">
                    <a:lnL cap="flat" cmpd="sng" w="6350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86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Karla"/>
                          <a:ea typeface="Karla"/>
                          <a:cs typeface="Karla"/>
                          <a:sym typeface="Karla"/>
                        </a:rPr>
                        <a:t>Portion Size</a:t>
                      </a:r>
                      <a:endParaRPr b="1" sz="1000"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T="91425" marB="91425" marR="28575" marL="28575" anchor="ctr">
                    <a:lnL cap="flat" cmpd="sng" w="6350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38761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Karla"/>
                          <a:ea typeface="Karla"/>
                          <a:cs typeface="Karla"/>
                          <a:sym typeface="Karla"/>
                        </a:rPr>
                        <a:t>6.11</a:t>
                      </a:r>
                      <a:endParaRPr sz="1000"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T="91425" marB="91425" marR="28575" marL="28575" anchor="ctr">
                    <a:lnL cap="flat" cmpd="sng" w="6350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38761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Karla"/>
                          <a:ea typeface="Karla"/>
                          <a:cs typeface="Karla"/>
                          <a:sym typeface="Karla"/>
                        </a:rPr>
                        <a:t>1.67</a:t>
                      </a:r>
                      <a:endParaRPr sz="1000"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T="91425" marB="91425" marR="28575" marL="28575" anchor="ctr">
                    <a:lnL cap="flat" cmpd="sng" w="6350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38761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Karla"/>
                          <a:ea typeface="Karla"/>
                          <a:cs typeface="Karla"/>
                          <a:sym typeface="Karla"/>
                        </a:rPr>
                        <a:t>6.32</a:t>
                      </a:r>
                      <a:endParaRPr sz="1000"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T="91425" marB="91425" marR="28575" marL="28575" anchor="ctr">
                    <a:lnL cap="flat" cmpd="sng" w="6350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38761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34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Karla"/>
                          <a:ea typeface="Karla"/>
                          <a:cs typeface="Karla"/>
                          <a:sym typeface="Karla"/>
                        </a:rPr>
                        <a:t>None</a:t>
                      </a:r>
                      <a:endParaRPr b="1" sz="1000"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T="91425" marB="91425" marR="28575" marL="28575" anchor="ctr">
                    <a:lnL cap="flat" cmpd="sng" w="6350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38761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Karla"/>
                          <a:ea typeface="Karla"/>
                          <a:cs typeface="Karla"/>
                          <a:sym typeface="Karla"/>
                        </a:rPr>
                        <a:t>140.87</a:t>
                      </a:r>
                      <a:endParaRPr sz="1000"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T="91425" marB="91425" marR="28575" marL="28575" anchor="ctr">
                    <a:lnL cap="flat" cmpd="sng" w="6350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38761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Karla"/>
                          <a:ea typeface="Karla"/>
                          <a:cs typeface="Karla"/>
                          <a:sym typeface="Karla"/>
                        </a:rPr>
                        <a:t>66.18</a:t>
                      </a:r>
                      <a:endParaRPr sz="1000"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T="91425" marB="91425" marR="28575" marL="28575" anchor="ctr">
                    <a:lnL cap="flat" cmpd="sng" w="6350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38761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Karla"/>
                          <a:ea typeface="Karla"/>
                          <a:cs typeface="Karla"/>
                          <a:sym typeface="Karla"/>
                        </a:rPr>
                        <a:t>-372.24</a:t>
                      </a:r>
                      <a:endParaRPr b="1" sz="1000"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T="91425" marB="91425" marR="28575" marL="28575" anchor="ctr">
                    <a:lnL cap="flat" cmpd="sng" w="6350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38761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69" name="Google Shape;569;g31a5ac5c9e7_0_0"/>
          <p:cNvGraphicFramePr/>
          <p:nvPr/>
        </p:nvGraphicFramePr>
        <p:xfrm>
          <a:off x="4907400" y="15767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{9BB79891-C1E0-444F-8AAC-7BFD1D1877D0}</a:tableStyleId>
              </a:tblPr>
              <a:tblGrid>
                <a:gridCol w="1486900"/>
                <a:gridCol w="421350"/>
                <a:gridCol w="578500"/>
                <a:gridCol w="436925"/>
                <a:gridCol w="555000"/>
                <a:gridCol w="632500"/>
              </a:tblGrid>
              <a:tr h="3708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Karla"/>
                          <a:ea typeface="Karla"/>
                          <a:cs typeface="Karla"/>
                          <a:sym typeface="Karla"/>
                        </a:rPr>
                        <a:t> 5 Segment Sizes</a:t>
                      </a:r>
                      <a:endParaRPr b="1" sz="1000"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T="91425" marB="91425" marR="28575" marL="28575" anchor="ctr">
                    <a:lnL cap="flat" cmpd="sng" w="6350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Karla"/>
                          <a:ea typeface="Karla"/>
                          <a:cs typeface="Karla"/>
                          <a:sym typeface="Karla"/>
                        </a:rPr>
                        <a:t>13.3%</a:t>
                      </a:r>
                      <a:endParaRPr sz="1000"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T="91425" marB="91425" marR="28575" marL="28575" anchor="ctr">
                    <a:lnL cap="flat" cmpd="sng" w="6350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Karla"/>
                          <a:ea typeface="Karla"/>
                          <a:cs typeface="Karla"/>
                          <a:sym typeface="Karla"/>
                        </a:rPr>
                        <a:t>27.6%</a:t>
                      </a:r>
                      <a:endParaRPr sz="1000"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T="91425" marB="91425" marR="28575" marL="28575" anchor="ctr">
                    <a:lnL cap="flat" cmpd="sng" w="6350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Karla"/>
                          <a:ea typeface="Karla"/>
                          <a:cs typeface="Karla"/>
                          <a:sym typeface="Karla"/>
                        </a:rPr>
                        <a:t>17.8%</a:t>
                      </a:r>
                      <a:endParaRPr sz="1000"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T="91425" marB="91425" marR="28575" marL="28575" anchor="ctr">
                    <a:lnL cap="flat" cmpd="sng" w="6350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Karla"/>
                          <a:ea typeface="Karla"/>
                          <a:cs typeface="Karla"/>
                          <a:sym typeface="Karla"/>
                        </a:rPr>
                        <a:t>22.6%</a:t>
                      </a:r>
                      <a:endParaRPr sz="1000"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T="91425" marB="91425" marR="28575" marL="28575" anchor="ctr">
                    <a:lnL cap="flat" cmpd="sng" w="6350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Karla"/>
                          <a:ea typeface="Karla"/>
                          <a:cs typeface="Karla"/>
                          <a:sym typeface="Karla"/>
                        </a:rPr>
                        <a:t>18.7%</a:t>
                      </a:r>
                      <a:endParaRPr sz="1000"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T="91425" marB="91425" marR="28575" marL="28575" anchor="ctr">
                    <a:lnL cap="flat" cmpd="sng" w="6350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 gridSpan="6"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Karla"/>
                          <a:ea typeface="Karla"/>
                          <a:cs typeface="Karla"/>
                          <a:sym typeface="Karla"/>
                        </a:rPr>
                        <a:t>Attribute Importances</a:t>
                      </a:r>
                      <a:endParaRPr b="1" sz="1000"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T="91425" marB="91425" marR="28575" marL="28575" anchor="ctr">
                    <a:lnL cap="flat" cmpd="sng" w="6350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5B7C5"/>
                    </a:solidFill>
                  </a:tcPr>
                </a:tc>
                <a:tc hMerge="1"/>
                <a:tc hMerge="1"/>
                <a:tc hMerge="1"/>
                <a:tc hMerge="1"/>
                <a:tc hMerge="1"/>
              </a:tr>
              <a:tr h="3708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Karla"/>
                          <a:ea typeface="Karla"/>
                          <a:cs typeface="Karla"/>
                          <a:sym typeface="Karla"/>
                        </a:rPr>
                        <a:t>Frozen/Fresh</a:t>
                      </a:r>
                      <a:endParaRPr b="1" sz="1000"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T="91425" marB="91425" marR="28575" marL="28575" anchor="ctr">
                    <a:lnL cap="flat" cmpd="sng" w="6350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Karla"/>
                          <a:ea typeface="Karla"/>
                          <a:cs typeface="Karla"/>
                          <a:sym typeface="Karla"/>
                        </a:rPr>
                        <a:t>6.7</a:t>
                      </a:r>
                      <a:endParaRPr sz="1000"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T="91425" marB="91425" marR="28575" marL="28575" anchor="ctr">
                    <a:lnL cap="flat" cmpd="sng" w="6350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FF0000"/>
                          </a:solidFill>
                          <a:latin typeface="Karla"/>
                          <a:ea typeface="Karla"/>
                          <a:cs typeface="Karla"/>
                          <a:sym typeface="Karla"/>
                        </a:rPr>
                        <a:t>52.8</a:t>
                      </a:r>
                      <a:endParaRPr b="1" sz="1000">
                        <a:solidFill>
                          <a:srgbClr val="FF0000"/>
                        </a:solidFill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T="91425" marB="91425" marR="28575" marL="28575" anchor="ctr">
                    <a:lnL cap="flat" cmpd="sng" w="6350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FF9900"/>
                          </a:solidFill>
                          <a:latin typeface="Karla"/>
                          <a:ea typeface="Karla"/>
                          <a:cs typeface="Karla"/>
                          <a:sym typeface="Karla"/>
                        </a:rPr>
                        <a:t>23.4</a:t>
                      </a:r>
                      <a:endParaRPr b="1" sz="1000">
                        <a:solidFill>
                          <a:srgbClr val="FF9900"/>
                        </a:solidFill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T="91425" marB="91425" marR="28575" marL="28575" anchor="ctr">
                    <a:lnL cap="flat" cmpd="sng" w="6350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Karla"/>
                          <a:ea typeface="Karla"/>
                          <a:cs typeface="Karla"/>
                          <a:sym typeface="Karla"/>
                        </a:rPr>
                        <a:t>14.9</a:t>
                      </a:r>
                      <a:endParaRPr sz="1000"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T="91425" marB="91425" marR="28575" marL="28575" anchor="ctr">
                    <a:lnL cap="flat" cmpd="sng" w="6350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Karla"/>
                          <a:ea typeface="Karla"/>
                          <a:cs typeface="Karla"/>
                          <a:sym typeface="Karla"/>
                        </a:rPr>
                        <a:t>15.7</a:t>
                      </a:r>
                      <a:endParaRPr sz="1000"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T="91425" marB="91425" marR="28575" marL="28575" anchor="ctr">
                    <a:lnL cap="flat" cmpd="sng" w="6350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Karla"/>
                          <a:ea typeface="Karla"/>
                          <a:cs typeface="Karla"/>
                          <a:sym typeface="Karla"/>
                        </a:rPr>
                        <a:t>Meal Price</a:t>
                      </a:r>
                      <a:endParaRPr b="1" sz="1000"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T="91425" marB="91425" marR="28575" marL="28575" anchor="ctr">
                    <a:lnL cap="flat" cmpd="sng" w="6350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FF0000"/>
                          </a:solidFill>
                          <a:latin typeface="Karla"/>
                          <a:ea typeface="Karla"/>
                          <a:cs typeface="Karla"/>
                          <a:sym typeface="Karla"/>
                        </a:rPr>
                        <a:t>76.6</a:t>
                      </a:r>
                      <a:endParaRPr b="1" sz="1000">
                        <a:solidFill>
                          <a:srgbClr val="FF0000"/>
                        </a:solidFill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T="91425" marB="91425" marR="28575" marL="28575" anchor="ctr">
                    <a:lnL cap="flat" cmpd="sng" w="6350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Karla"/>
                          <a:ea typeface="Karla"/>
                          <a:cs typeface="Karla"/>
                          <a:sym typeface="Karla"/>
                        </a:rPr>
                        <a:t>13.2</a:t>
                      </a:r>
                      <a:endParaRPr sz="1000"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T="91425" marB="91425" marR="28575" marL="28575" anchor="ctr">
                    <a:lnL cap="flat" cmpd="sng" w="6350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FF9900"/>
                          </a:solidFill>
                          <a:latin typeface="Karla"/>
                          <a:ea typeface="Karla"/>
                          <a:cs typeface="Karla"/>
                          <a:sym typeface="Karla"/>
                        </a:rPr>
                        <a:t>22.6</a:t>
                      </a:r>
                      <a:endParaRPr b="1" sz="1000">
                        <a:solidFill>
                          <a:srgbClr val="FF9900"/>
                        </a:solidFill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T="91425" marB="91425" marR="28575" marL="28575" anchor="ctr">
                    <a:lnL cap="flat" cmpd="sng" w="6350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FF0000"/>
                          </a:solidFill>
                          <a:latin typeface="Karla"/>
                          <a:ea typeface="Karla"/>
                          <a:cs typeface="Karla"/>
                          <a:sym typeface="Karla"/>
                        </a:rPr>
                        <a:t>40.3</a:t>
                      </a:r>
                      <a:endParaRPr b="1" sz="1000">
                        <a:solidFill>
                          <a:srgbClr val="FF0000"/>
                        </a:solidFill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T="91425" marB="91425" marR="28575" marL="28575" anchor="ctr">
                    <a:lnL cap="flat" cmpd="sng" w="6350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FF0000"/>
                          </a:solidFill>
                          <a:latin typeface="Karla"/>
                          <a:ea typeface="Karla"/>
                          <a:cs typeface="Karla"/>
                          <a:sym typeface="Karla"/>
                        </a:rPr>
                        <a:t>71.6</a:t>
                      </a:r>
                      <a:endParaRPr b="1" sz="1000">
                        <a:solidFill>
                          <a:srgbClr val="FF0000"/>
                        </a:solidFill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T="91425" marB="91425" marR="28575" marL="28575" anchor="ctr">
                    <a:lnL cap="flat" cmpd="sng" w="6350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Karla"/>
                          <a:ea typeface="Karla"/>
                          <a:cs typeface="Karla"/>
                          <a:sym typeface="Karla"/>
                        </a:rPr>
                        <a:t>Rotating Menu</a:t>
                      </a:r>
                      <a:endParaRPr b="1" sz="1000"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T="91425" marB="91425" marR="28575" marL="28575" anchor="ctr">
                    <a:lnL cap="flat" cmpd="sng" w="6350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Karla"/>
                          <a:ea typeface="Karla"/>
                          <a:cs typeface="Karla"/>
                          <a:sym typeface="Karla"/>
                        </a:rPr>
                        <a:t>3.4</a:t>
                      </a:r>
                      <a:endParaRPr sz="1000"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T="91425" marB="91425" marR="28575" marL="28575" anchor="ctr">
                    <a:lnL cap="flat" cmpd="sng" w="6350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FF9900"/>
                          </a:solidFill>
                          <a:latin typeface="Karla"/>
                          <a:ea typeface="Karla"/>
                          <a:cs typeface="Karla"/>
                          <a:sym typeface="Karla"/>
                        </a:rPr>
                        <a:t>20.6</a:t>
                      </a:r>
                      <a:endParaRPr b="1" sz="1000">
                        <a:solidFill>
                          <a:srgbClr val="FF9900"/>
                        </a:solidFill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T="91425" marB="91425" marR="28575" marL="28575" anchor="ctr">
                    <a:lnL cap="flat" cmpd="sng" w="6350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Karla"/>
                          <a:ea typeface="Karla"/>
                          <a:cs typeface="Karla"/>
                          <a:sym typeface="Karla"/>
                        </a:rPr>
                        <a:t>0.1</a:t>
                      </a:r>
                      <a:endParaRPr sz="1000"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T="91425" marB="91425" marR="28575" marL="28575" anchor="ctr">
                    <a:lnL cap="flat" cmpd="sng" w="6350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Karla"/>
                          <a:ea typeface="Karla"/>
                          <a:cs typeface="Karla"/>
                          <a:sym typeface="Karla"/>
                        </a:rPr>
                        <a:t>12.7</a:t>
                      </a:r>
                      <a:endParaRPr sz="1000"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T="91425" marB="91425" marR="28575" marL="28575" anchor="ctr">
                    <a:lnL cap="flat" cmpd="sng" w="6350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Karla"/>
                          <a:ea typeface="Karla"/>
                          <a:cs typeface="Karla"/>
                          <a:sym typeface="Karla"/>
                        </a:rPr>
                        <a:t>2.2</a:t>
                      </a:r>
                      <a:endParaRPr sz="1000"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T="91425" marB="91425" marR="28575" marL="28575" anchor="ctr">
                    <a:lnL cap="flat" cmpd="sng" w="6350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94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Karla"/>
                          <a:ea typeface="Karla"/>
                          <a:cs typeface="Karla"/>
                          <a:sym typeface="Karla"/>
                        </a:rPr>
                        <a:t>Vegan/ Vegetarian Dish</a:t>
                      </a:r>
                      <a:endParaRPr b="1" sz="1000"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T="91425" marB="91425" marR="28575" marL="28575" anchor="ctr">
                    <a:lnL cap="flat" cmpd="sng" w="6350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Karla"/>
                          <a:ea typeface="Karla"/>
                          <a:cs typeface="Karla"/>
                          <a:sym typeface="Karla"/>
                        </a:rPr>
                        <a:t>8.9</a:t>
                      </a:r>
                      <a:endParaRPr sz="1000"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T="91425" marB="91425" marR="28575" marL="28575" anchor="ctr">
                    <a:lnL cap="flat" cmpd="sng" w="6350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Karla"/>
                          <a:ea typeface="Karla"/>
                          <a:cs typeface="Karla"/>
                          <a:sym typeface="Karla"/>
                        </a:rPr>
                        <a:t>6.3</a:t>
                      </a:r>
                      <a:endParaRPr sz="1000"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T="91425" marB="91425" marR="28575" marL="28575" anchor="ctr">
                    <a:lnL cap="flat" cmpd="sng" w="6350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FF0000"/>
                          </a:solidFill>
                          <a:latin typeface="Karla"/>
                          <a:ea typeface="Karla"/>
                          <a:cs typeface="Karla"/>
                          <a:sym typeface="Karla"/>
                        </a:rPr>
                        <a:t>51.9</a:t>
                      </a:r>
                      <a:endParaRPr b="1" sz="1000">
                        <a:solidFill>
                          <a:srgbClr val="FF0000"/>
                        </a:solidFill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T="91425" marB="91425" marR="28575" marL="28575" anchor="ctr">
                    <a:lnL cap="flat" cmpd="sng" w="6350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Karla"/>
                          <a:ea typeface="Karla"/>
                          <a:cs typeface="Karla"/>
                          <a:sym typeface="Karla"/>
                        </a:rPr>
                        <a:t>5.5</a:t>
                      </a:r>
                      <a:endParaRPr sz="1000"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T="91425" marB="91425" marR="28575" marL="28575" anchor="ctr">
                    <a:lnL cap="flat" cmpd="sng" w="6350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Karla"/>
                          <a:ea typeface="Karla"/>
                          <a:cs typeface="Karla"/>
                          <a:sym typeface="Karla"/>
                        </a:rPr>
                        <a:t>5.2</a:t>
                      </a:r>
                      <a:endParaRPr sz="1000"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T="91425" marB="91425" marR="28575" marL="28575" anchor="ctr">
                    <a:lnL cap="flat" cmpd="sng" w="6350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1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Karla"/>
                          <a:ea typeface="Karla"/>
                          <a:cs typeface="Karla"/>
                          <a:sym typeface="Karla"/>
                        </a:rPr>
                        <a:t>Portion Size</a:t>
                      </a:r>
                      <a:endParaRPr b="1" sz="1000"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T="91425" marB="91425" marR="28575" marL="28575" anchor="ctr">
                    <a:lnL cap="flat" cmpd="sng" w="6350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D1490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Karla"/>
                          <a:ea typeface="Karla"/>
                          <a:cs typeface="Karla"/>
                          <a:sym typeface="Karla"/>
                        </a:rPr>
                        <a:t>4.2</a:t>
                      </a:r>
                      <a:endParaRPr sz="1000"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T="91425" marB="91425" marR="28575" marL="28575" anchor="ctr">
                    <a:lnL cap="flat" cmpd="sng" w="6350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D1490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Karla"/>
                          <a:ea typeface="Karla"/>
                          <a:cs typeface="Karla"/>
                          <a:sym typeface="Karla"/>
                        </a:rPr>
                        <a:t>6.9</a:t>
                      </a:r>
                      <a:endParaRPr sz="1000"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T="91425" marB="91425" marR="28575" marL="28575" anchor="ctr">
                    <a:lnL cap="flat" cmpd="sng" w="6350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D1490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Karla"/>
                          <a:ea typeface="Karla"/>
                          <a:cs typeface="Karla"/>
                          <a:sym typeface="Karla"/>
                        </a:rPr>
                        <a:t>1.4</a:t>
                      </a:r>
                      <a:endParaRPr sz="1000"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T="91425" marB="91425" marR="28575" marL="28575" anchor="ctr">
                    <a:lnL cap="flat" cmpd="sng" w="6350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D1490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FF9900"/>
                          </a:solidFill>
                          <a:latin typeface="Karla"/>
                          <a:ea typeface="Karla"/>
                          <a:cs typeface="Karla"/>
                          <a:sym typeface="Karla"/>
                        </a:rPr>
                        <a:t>27.2</a:t>
                      </a:r>
                      <a:endParaRPr b="1" sz="1000">
                        <a:solidFill>
                          <a:srgbClr val="FF9900"/>
                        </a:solidFill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T="91425" marB="91425" marR="28575" marL="28575" anchor="ctr">
                    <a:lnL cap="flat" cmpd="sng" w="6350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D1490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Karla"/>
                          <a:ea typeface="Karla"/>
                          <a:cs typeface="Karla"/>
                          <a:sym typeface="Karla"/>
                        </a:rPr>
                        <a:t>5.1</a:t>
                      </a:r>
                      <a:endParaRPr sz="1000"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T="91425" marB="91425" marR="28575" marL="28575" anchor="ctr">
                    <a:lnL cap="flat" cmpd="sng" w="6350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D1490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Karla"/>
                          <a:ea typeface="Karla"/>
                          <a:cs typeface="Karla"/>
                          <a:sym typeface="Karla"/>
                        </a:rPr>
                        <a:t>None</a:t>
                      </a:r>
                      <a:endParaRPr b="1" sz="1000"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T="91425" marB="91425" marR="28575" marL="28575" anchor="ctr">
                    <a:lnL cap="flat" cmpd="sng" w="6350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D1490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Karla"/>
                          <a:ea typeface="Karla"/>
                          <a:cs typeface="Karla"/>
                          <a:sym typeface="Karla"/>
                        </a:rPr>
                        <a:t>144.22</a:t>
                      </a:r>
                      <a:endParaRPr sz="1000"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T="91425" marB="91425" marR="28575" marL="28575" anchor="ctr">
                    <a:lnL cap="flat" cmpd="sng" w="6350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D1490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Karla"/>
                          <a:ea typeface="Karla"/>
                          <a:cs typeface="Karla"/>
                          <a:sym typeface="Karla"/>
                        </a:rPr>
                        <a:t>-243.41</a:t>
                      </a:r>
                      <a:endParaRPr b="1" sz="1000"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T="91425" marB="91425" marR="28575" marL="28575" anchor="ctr">
                    <a:lnL cap="flat" cmpd="sng" w="6350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D1490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Karla"/>
                          <a:ea typeface="Karla"/>
                          <a:cs typeface="Karla"/>
                          <a:sym typeface="Karla"/>
                        </a:rPr>
                        <a:t>63.91</a:t>
                      </a:r>
                      <a:endParaRPr sz="1000"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T="91425" marB="91425" marR="28575" marL="28575" anchor="ctr">
                    <a:lnL cap="flat" cmpd="sng" w="6350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D1490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Karla"/>
                          <a:ea typeface="Karla"/>
                          <a:cs typeface="Karla"/>
                          <a:sym typeface="Karla"/>
                        </a:rPr>
                        <a:t>-306.03</a:t>
                      </a:r>
                      <a:endParaRPr b="1" sz="1000">
                        <a:solidFill>
                          <a:srgbClr val="FF9900"/>
                        </a:solidFill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T="91425" marB="91425" marR="28575" marL="28575" anchor="ctr">
                    <a:lnL cap="flat" cmpd="sng" w="6350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D1490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Karla"/>
                          <a:ea typeface="Karla"/>
                          <a:cs typeface="Karla"/>
                          <a:sym typeface="Karla"/>
                        </a:rPr>
                        <a:t>-287.12</a:t>
                      </a:r>
                      <a:endParaRPr b="1" sz="1000">
                        <a:latin typeface="Karla"/>
                        <a:ea typeface="Karla"/>
                        <a:cs typeface="Karla"/>
                        <a:sym typeface="Karla"/>
                      </a:endParaRPr>
                    </a:p>
                  </a:txBody>
                  <a:tcPr marT="91425" marB="91425" marR="28575" marL="28575" anchor="ctr">
                    <a:lnL cap="flat" cmpd="sng" w="6350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D1490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</a:tr>
            </a:tbl>
          </a:graphicData>
        </a:graphic>
      </p:graphicFrame>
      <p:sp>
        <p:nvSpPr>
          <p:cNvPr id="570" name="Google Shape;570;g31a5ac5c9e7_0_0"/>
          <p:cNvSpPr txBox="1"/>
          <p:nvPr>
            <p:ph type="title"/>
          </p:nvPr>
        </p:nvSpPr>
        <p:spPr>
          <a:xfrm>
            <a:off x="6076350" y="974100"/>
            <a:ext cx="1896600" cy="67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sz="1800" u="sng"/>
              <a:t>5 Segment</a:t>
            </a:r>
            <a:endParaRPr sz="1800" u="sng"/>
          </a:p>
        </p:txBody>
      </p:sp>
      <p:sp>
        <p:nvSpPr>
          <p:cNvPr id="571" name="Google Shape;571;g31a5ac5c9e7_0_0"/>
          <p:cNvSpPr txBox="1"/>
          <p:nvPr>
            <p:ph type="title"/>
          </p:nvPr>
        </p:nvSpPr>
        <p:spPr>
          <a:xfrm>
            <a:off x="2328713" y="974100"/>
            <a:ext cx="1896600" cy="67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sz="1800" u="sng">
                <a:solidFill>
                  <a:srgbClr val="38761D"/>
                </a:solidFill>
              </a:rPr>
              <a:t>3</a:t>
            </a:r>
            <a:r>
              <a:rPr lang="en" sz="1800" u="sng">
                <a:solidFill>
                  <a:srgbClr val="38761D"/>
                </a:solidFill>
              </a:rPr>
              <a:t> Segment</a:t>
            </a:r>
            <a:endParaRPr sz="1800" u="sng">
              <a:solidFill>
                <a:srgbClr val="38761D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5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g31a5ac5c9e7_0_19"/>
          <p:cNvSpPr/>
          <p:nvPr/>
        </p:nvSpPr>
        <p:spPr>
          <a:xfrm>
            <a:off x="0" y="17850"/>
            <a:ext cx="9144000" cy="5107800"/>
          </a:xfrm>
          <a:prstGeom prst="rect">
            <a:avLst/>
          </a:prstGeom>
          <a:solidFill>
            <a:srgbClr val="F1EBE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grpSp>
        <p:nvGrpSpPr>
          <p:cNvPr id="577" name="Google Shape;577;g31a5ac5c9e7_0_19"/>
          <p:cNvGrpSpPr/>
          <p:nvPr/>
        </p:nvGrpSpPr>
        <p:grpSpPr>
          <a:xfrm>
            <a:off x="808775" y="287750"/>
            <a:ext cx="906600" cy="906600"/>
            <a:chOff x="3307125" y="1789650"/>
            <a:chExt cx="906600" cy="906600"/>
          </a:xfrm>
        </p:grpSpPr>
        <p:sp>
          <p:nvSpPr>
            <p:cNvPr id="578" name="Google Shape;578;g31a5ac5c9e7_0_19"/>
            <p:cNvSpPr/>
            <p:nvPr/>
          </p:nvSpPr>
          <p:spPr>
            <a:xfrm>
              <a:off x="3307125" y="1789650"/>
              <a:ext cx="906600" cy="9066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9" name="Google Shape;579;g31a5ac5c9e7_0_19"/>
            <p:cNvSpPr/>
            <p:nvPr/>
          </p:nvSpPr>
          <p:spPr>
            <a:xfrm>
              <a:off x="3383775" y="1866325"/>
              <a:ext cx="753300" cy="753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80" name="Google Shape;580;g31a5ac5c9e7_0_19"/>
          <p:cNvSpPr txBox="1"/>
          <p:nvPr>
            <p:ph idx="4294967295" type="title"/>
          </p:nvPr>
        </p:nvSpPr>
        <p:spPr>
          <a:xfrm>
            <a:off x="808775" y="477200"/>
            <a:ext cx="9066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581" name="Google Shape;581;g31a5ac5c9e7_0_19"/>
          <p:cNvSpPr txBox="1"/>
          <p:nvPr>
            <p:ph type="title"/>
          </p:nvPr>
        </p:nvSpPr>
        <p:spPr>
          <a:xfrm>
            <a:off x="1846950" y="403100"/>
            <a:ext cx="5124300" cy="67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Customer Profiles</a:t>
            </a:r>
            <a:endParaRPr sz="3000"/>
          </a:p>
        </p:txBody>
      </p:sp>
      <p:pic>
        <p:nvPicPr>
          <p:cNvPr id="582" name="Google Shape;582;g31a5ac5c9e7_0_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97550" y="1638300"/>
            <a:ext cx="775226" cy="775226"/>
          </a:xfrm>
          <a:prstGeom prst="rect">
            <a:avLst/>
          </a:prstGeom>
          <a:noFill/>
          <a:ln>
            <a:noFill/>
          </a:ln>
        </p:spPr>
      </p:pic>
      <p:pic>
        <p:nvPicPr>
          <p:cNvPr id="583" name="Google Shape;583;g31a5ac5c9e7_0_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84388" y="1638300"/>
            <a:ext cx="775226" cy="775226"/>
          </a:xfrm>
          <a:prstGeom prst="rect">
            <a:avLst/>
          </a:prstGeom>
          <a:noFill/>
          <a:ln>
            <a:noFill/>
          </a:ln>
        </p:spPr>
      </p:pic>
      <p:pic>
        <p:nvPicPr>
          <p:cNvPr id="584" name="Google Shape;584;g31a5ac5c9e7_0_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06200" y="1521375"/>
            <a:ext cx="1010426" cy="1010426"/>
          </a:xfrm>
          <a:prstGeom prst="rect">
            <a:avLst/>
          </a:prstGeom>
          <a:noFill/>
          <a:ln>
            <a:noFill/>
          </a:ln>
        </p:spPr>
      </p:pic>
      <p:sp>
        <p:nvSpPr>
          <p:cNvPr id="585" name="Google Shape;585;g31a5ac5c9e7_0_19"/>
          <p:cNvSpPr txBox="1"/>
          <p:nvPr/>
        </p:nvSpPr>
        <p:spPr>
          <a:xfrm>
            <a:off x="603162" y="2609600"/>
            <a:ext cx="2364000" cy="3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Budget Meal Seekers </a:t>
            </a:r>
            <a:endParaRPr b="1">
              <a:solidFill>
                <a:schemeClr val="dk1"/>
              </a:solidFill>
              <a:latin typeface="Karla"/>
              <a:ea typeface="Karla"/>
              <a:cs typeface="Karla"/>
              <a:sym typeface="Karl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12.1% population</a:t>
            </a:r>
            <a:endParaRPr>
              <a:solidFill>
                <a:schemeClr val="dk1"/>
              </a:solidFill>
              <a:latin typeface="Karla"/>
              <a:ea typeface="Karla"/>
              <a:cs typeface="Karla"/>
              <a:sym typeface="Karl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586" name="Google Shape;586;g31a5ac5c9e7_0_19"/>
          <p:cNvSpPr txBox="1"/>
          <p:nvPr/>
        </p:nvSpPr>
        <p:spPr>
          <a:xfrm>
            <a:off x="3475525" y="2609600"/>
            <a:ext cx="2102100" cy="3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Healthy Enthusiasts</a:t>
            </a:r>
            <a:endParaRPr>
              <a:solidFill>
                <a:schemeClr val="dk1"/>
              </a:solidFill>
              <a:latin typeface="Karla"/>
              <a:ea typeface="Karla"/>
              <a:cs typeface="Karla"/>
              <a:sym typeface="Karl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17.2%</a:t>
            </a:r>
            <a:r>
              <a:rPr lang="en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 population</a:t>
            </a:r>
            <a:endParaRPr>
              <a:solidFill>
                <a:schemeClr val="dk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587" name="Google Shape;587;g31a5ac5c9e7_0_19"/>
          <p:cNvSpPr txBox="1"/>
          <p:nvPr/>
        </p:nvSpPr>
        <p:spPr>
          <a:xfrm>
            <a:off x="6433152" y="2779275"/>
            <a:ext cx="1756500" cy="3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70.7%</a:t>
            </a:r>
            <a:r>
              <a:rPr lang="en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 population</a:t>
            </a:r>
            <a:endParaRPr>
              <a:solidFill>
                <a:schemeClr val="dk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588" name="Google Shape;588;g31a5ac5c9e7_0_19"/>
          <p:cNvSpPr txBox="1"/>
          <p:nvPr/>
        </p:nvSpPr>
        <p:spPr>
          <a:xfrm>
            <a:off x="5926400" y="2571750"/>
            <a:ext cx="2682000" cy="3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Adventurous Fresh </a:t>
            </a:r>
            <a:r>
              <a:rPr b="1" lang="en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Foodies</a:t>
            </a:r>
            <a:endParaRPr>
              <a:solidFill>
                <a:schemeClr val="dk1"/>
              </a:solidFill>
              <a:latin typeface="Karla"/>
              <a:ea typeface="Karla"/>
              <a:cs typeface="Karla"/>
              <a:sym typeface="Karl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589" name="Google Shape;589;g31a5ac5c9e7_0_19"/>
          <p:cNvSpPr txBox="1"/>
          <p:nvPr/>
        </p:nvSpPr>
        <p:spPr>
          <a:xfrm>
            <a:off x="436050" y="3388550"/>
            <a:ext cx="25311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Karla"/>
                <a:ea typeface="Karla"/>
                <a:cs typeface="Karla"/>
                <a:sym typeface="Karla"/>
              </a:rPr>
              <a:t>Highly price-sensitive customers with</a:t>
            </a:r>
            <a:r>
              <a:rPr lang="en">
                <a:latin typeface="Karla"/>
                <a:ea typeface="Karla"/>
                <a:cs typeface="Karla"/>
                <a:sym typeface="Karla"/>
              </a:rPr>
              <a:t> utility value</a:t>
            </a:r>
            <a:r>
              <a:rPr lang="en">
                <a:latin typeface="Karla"/>
                <a:ea typeface="Karla"/>
                <a:cs typeface="Karla"/>
                <a:sym typeface="Karla"/>
              </a:rPr>
              <a:t> that they’re </a:t>
            </a:r>
            <a:r>
              <a:rPr b="1" lang="en">
                <a:latin typeface="Karla"/>
                <a:ea typeface="Karla"/>
                <a:cs typeface="Karla"/>
                <a:sym typeface="Karla"/>
              </a:rPr>
              <a:t>unlikely to consider our product</a:t>
            </a:r>
            <a:endParaRPr b="1"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590" name="Google Shape;590;g31a5ac5c9e7_0_19"/>
          <p:cNvSpPr txBox="1"/>
          <p:nvPr/>
        </p:nvSpPr>
        <p:spPr>
          <a:xfrm>
            <a:off x="3298975" y="3388550"/>
            <a:ext cx="24552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Karla"/>
                <a:ea typeface="Karla"/>
                <a:cs typeface="Karla"/>
                <a:sym typeface="Karla"/>
              </a:rPr>
              <a:t>Heavy emphasis on fresh, vegan/vegetarian meals and are open to considering our product</a:t>
            </a:r>
            <a:endParaRPr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591" name="Google Shape;591;g31a5ac5c9e7_0_19"/>
          <p:cNvSpPr txBox="1"/>
          <p:nvPr/>
        </p:nvSpPr>
        <p:spPr>
          <a:xfrm>
            <a:off x="5837500" y="3334650"/>
            <a:ext cx="29478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Karla"/>
                <a:ea typeface="Karla"/>
                <a:cs typeface="Karla"/>
                <a:sym typeface="Karla"/>
              </a:rPr>
              <a:t>Majority of the population </a:t>
            </a:r>
            <a:r>
              <a:rPr lang="en">
                <a:latin typeface="Karla"/>
                <a:ea typeface="Karla"/>
                <a:cs typeface="Karla"/>
                <a:sym typeface="Karla"/>
              </a:rPr>
              <a:t>who values fresh,  good-quality meals and enjoys exploring new dishes that are reasonably priced- </a:t>
            </a:r>
            <a:r>
              <a:rPr b="1" lang="en">
                <a:solidFill>
                  <a:srgbClr val="38761D"/>
                </a:solidFill>
                <a:latin typeface="Karla"/>
                <a:ea typeface="Karla"/>
                <a:cs typeface="Karla"/>
                <a:sym typeface="Karla"/>
              </a:rPr>
              <a:t>most receptive to our product</a:t>
            </a:r>
            <a:endParaRPr b="1">
              <a:latin typeface="Karla"/>
              <a:ea typeface="Karla"/>
              <a:cs typeface="Karla"/>
              <a:sym typeface="Karl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5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g31a917fecd2_0_0"/>
          <p:cNvSpPr/>
          <p:nvPr/>
        </p:nvSpPr>
        <p:spPr>
          <a:xfrm>
            <a:off x="4189875" y="-100"/>
            <a:ext cx="4954200" cy="5143500"/>
          </a:xfrm>
          <a:prstGeom prst="rect">
            <a:avLst/>
          </a:prstGeom>
          <a:solidFill>
            <a:srgbClr val="F1EBE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597" name="Google Shape;597;g31a917fecd2_0_0"/>
          <p:cNvSpPr txBox="1"/>
          <p:nvPr>
            <p:ph idx="4294967295" type="title"/>
          </p:nvPr>
        </p:nvSpPr>
        <p:spPr>
          <a:xfrm>
            <a:off x="808775" y="477200"/>
            <a:ext cx="9066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5</a:t>
            </a:r>
            <a:endParaRPr/>
          </a:p>
        </p:txBody>
      </p:sp>
      <p:sp>
        <p:nvSpPr>
          <p:cNvPr id="598" name="Google Shape;598;g31a917fecd2_0_0"/>
          <p:cNvSpPr txBox="1"/>
          <p:nvPr>
            <p:ph idx="4294967295" type="title"/>
          </p:nvPr>
        </p:nvSpPr>
        <p:spPr>
          <a:xfrm>
            <a:off x="1846950" y="403100"/>
            <a:ext cx="5124300" cy="67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Market Sizing Overview</a:t>
            </a:r>
            <a:endParaRPr sz="3000"/>
          </a:p>
        </p:txBody>
      </p:sp>
      <p:pic>
        <p:nvPicPr>
          <p:cNvPr id="599" name="Google Shape;599;g31a917fecd2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67350" y="1130650"/>
            <a:ext cx="2977900" cy="3305026"/>
          </a:xfrm>
          <a:prstGeom prst="rect">
            <a:avLst/>
          </a:prstGeom>
          <a:noFill/>
          <a:ln>
            <a:noFill/>
          </a:ln>
        </p:spPr>
      </p:pic>
      <p:sp>
        <p:nvSpPr>
          <p:cNvPr id="600" name="Google Shape;600;g31a917fecd2_0_0"/>
          <p:cNvSpPr txBox="1"/>
          <p:nvPr/>
        </p:nvSpPr>
        <p:spPr>
          <a:xfrm>
            <a:off x="4228371" y="1347325"/>
            <a:ext cx="3266400" cy="3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Total Addressable Market (TAM)</a:t>
            </a:r>
            <a:endParaRPr b="1">
              <a:solidFill>
                <a:schemeClr val="dk1"/>
              </a:solidFill>
              <a:latin typeface="Karla"/>
              <a:ea typeface="Karla"/>
              <a:cs typeface="Karla"/>
              <a:sym typeface="Karl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Karla"/>
              <a:ea typeface="Karla"/>
              <a:cs typeface="Karla"/>
              <a:sym typeface="Karl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601" name="Google Shape;601;g31a917fecd2_0_0"/>
          <p:cNvSpPr txBox="1"/>
          <p:nvPr/>
        </p:nvSpPr>
        <p:spPr>
          <a:xfrm>
            <a:off x="4228369" y="2335650"/>
            <a:ext cx="3659100" cy="3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Serviceable Addressable Market (S</a:t>
            </a:r>
            <a:r>
              <a:rPr b="1" lang="en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AM)</a:t>
            </a:r>
            <a:endParaRPr b="1">
              <a:solidFill>
                <a:schemeClr val="dk1"/>
              </a:solidFill>
              <a:latin typeface="Karla"/>
              <a:ea typeface="Karla"/>
              <a:cs typeface="Karla"/>
              <a:sym typeface="Karl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Karla"/>
              <a:ea typeface="Karla"/>
              <a:cs typeface="Karla"/>
              <a:sym typeface="Karl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602" name="Google Shape;602;g31a917fecd2_0_0"/>
          <p:cNvSpPr txBox="1"/>
          <p:nvPr/>
        </p:nvSpPr>
        <p:spPr>
          <a:xfrm>
            <a:off x="4228369" y="3434375"/>
            <a:ext cx="3520500" cy="3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Serviceable Obtainable Market (SO</a:t>
            </a:r>
            <a:r>
              <a:rPr b="1" lang="en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M)</a:t>
            </a:r>
            <a:endParaRPr b="1">
              <a:solidFill>
                <a:schemeClr val="dk1"/>
              </a:solidFill>
              <a:latin typeface="Karla"/>
              <a:ea typeface="Karla"/>
              <a:cs typeface="Karla"/>
              <a:sym typeface="Karl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Karla"/>
              <a:ea typeface="Karla"/>
              <a:cs typeface="Karla"/>
              <a:sym typeface="Karl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603" name="Google Shape;603;g31a917fecd2_0_0"/>
          <p:cNvSpPr txBox="1"/>
          <p:nvPr/>
        </p:nvSpPr>
        <p:spPr>
          <a:xfrm>
            <a:off x="4228375" y="1661925"/>
            <a:ext cx="39471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Karla"/>
                <a:ea typeface="Karla"/>
                <a:cs typeface="Karla"/>
                <a:sym typeface="Karla"/>
              </a:rPr>
              <a:t>Marshall Undergrads (4,200), Grads (3,300), Faculty &amp; Staff (500)</a:t>
            </a:r>
            <a:endParaRPr b="1"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604" name="Google Shape;604;g31a917fecd2_0_0"/>
          <p:cNvSpPr txBox="1"/>
          <p:nvPr/>
        </p:nvSpPr>
        <p:spPr>
          <a:xfrm>
            <a:off x="4228375" y="2603075"/>
            <a:ext cx="39471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Karla"/>
                <a:ea typeface="Karla"/>
                <a:cs typeface="Karla"/>
                <a:sym typeface="Karla"/>
              </a:rPr>
              <a:t>Based on survey results, </a:t>
            </a:r>
            <a:r>
              <a:rPr lang="en">
                <a:latin typeface="Karla"/>
                <a:ea typeface="Karla"/>
                <a:cs typeface="Karla"/>
                <a:sym typeface="Karla"/>
              </a:rPr>
              <a:t>Marshall Undergrads (3,600), Grads (2,500), Faculty &amp; Staff (400) that consume food at Marshall</a:t>
            </a:r>
            <a:endParaRPr b="1"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605" name="Google Shape;605;g31a917fecd2_0_0"/>
          <p:cNvSpPr txBox="1"/>
          <p:nvPr/>
        </p:nvSpPr>
        <p:spPr>
          <a:xfrm>
            <a:off x="4228375" y="3725400"/>
            <a:ext cx="39471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Karla"/>
                <a:ea typeface="Karla"/>
                <a:cs typeface="Karla"/>
                <a:sym typeface="Karla"/>
              </a:rPr>
              <a:t>Target Audience: </a:t>
            </a:r>
            <a:r>
              <a:rPr lang="en">
                <a:latin typeface="Karla"/>
                <a:ea typeface="Karla"/>
                <a:cs typeface="Karla"/>
                <a:sym typeface="Karla"/>
              </a:rPr>
              <a:t>Marshall Undergrads (2,500), Grads (1,700), Faculty &amp; Staff (300)</a:t>
            </a:r>
            <a:endParaRPr b="1">
              <a:latin typeface="Karla"/>
              <a:ea typeface="Karla"/>
              <a:cs typeface="Karla"/>
              <a:sym typeface="Karla"/>
            </a:endParaRPr>
          </a:p>
        </p:txBody>
      </p:sp>
      <p:grpSp>
        <p:nvGrpSpPr>
          <p:cNvPr id="606" name="Google Shape;606;g31a917fecd2_0_0"/>
          <p:cNvGrpSpPr/>
          <p:nvPr/>
        </p:nvGrpSpPr>
        <p:grpSpPr>
          <a:xfrm>
            <a:off x="808775" y="287750"/>
            <a:ext cx="906600" cy="906600"/>
            <a:chOff x="3307125" y="1789650"/>
            <a:chExt cx="906600" cy="906600"/>
          </a:xfrm>
        </p:grpSpPr>
        <p:sp>
          <p:nvSpPr>
            <p:cNvPr id="607" name="Google Shape;607;g31a917fecd2_0_0"/>
            <p:cNvSpPr/>
            <p:nvPr/>
          </p:nvSpPr>
          <p:spPr>
            <a:xfrm>
              <a:off x="3307125" y="1789650"/>
              <a:ext cx="906600" cy="9066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8" name="Google Shape;608;g31a917fecd2_0_0"/>
            <p:cNvSpPr/>
            <p:nvPr/>
          </p:nvSpPr>
          <p:spPr>
            <a:xfrm>
              <a:off x="3383775" y="1866325"/>
              <a:ext cx="753300" cy="753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09" name="Google Shape;609;g31a917fecd2_0_0"/>
          <p:cNvSpPr txBox="1"/>
          <p:nvPr>
            <p:ph idx="4294967295" type="title"/>
          </p:nvPr>
        </p:nvSpPr>
        <p:spPr>
          <a:xfrm>
            <a:off x="808775" y="477200"/>
            <a:ext cx="9066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05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3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g31ab2ae2dac_2_25"/>
          <p:cNvSpPr/>
          <p:nvPr/>
        </p:nvSpPr>
        <p:spPr>
          <a:xfrm>
            <a:off x="0" y="17850"/>
            <a:ext cx="9144000" cy="5107800"/>
          </a:xfrm>
          <a:prstGeom prst="rect">
            <a:avLst/>
          </a:prstGeom>
          <a:solidFill>
            <a:srgbClr val="F1EBE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615" name="Google Shape;615;g31ab2ae2dac_2_25"/>
          <p:cNvSpPr/>
          <p:nvPr/>
        </p:nvSpPr>
        <p:spPr>
          <a:xfrm>
            <a:off x="6115150" y="1399675"/>
            <a:ext cx="2517900" cy="2523300"/>
          </a:xfrm>
          <a:prstGeom prst="roundRect">
            <a:avLst>
              <a:gd fmla="val 16667" name="adj"/>
            </a:avLst>
          </a:prstGeom>
          <a:solidFill>
            <a:srgbClr val="A1CA87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Karla"/>
              <a:ea typeface="Karla"/>
              <a:cs typeface="Karla"/>
              <a:sym typeface="Karla"/>
            </a:endParaRPr>
          </a:p>
        </p:txBody>
      </p:sp>
      <p:grpSp>
        <p:nvGrpSpPr>
          <p:cNvPr id="616" name="Google Shape;616;g31ab2ae2dac_2_25"/>
          <p:cNvGrpSpPr/>
          <p:nvPr/>
        </p:nvGrpSpPr>
        <p:grpSpPr>
          <a:xfrm>
            <a:off x="808775" y="287750"/>
            <a:ext cx="906600" cy="906600"/>
            <a:chOff x="3307125" y="1789650"/>
            <a:chExt cx="906600" cy="906600"/>
          </a:xfrm>
        </p:grpSpPr>
        <p:sp>
          <p:nvSpPr>
            <p:cNvPr id="617" name="Google Shape;617;g31ab2ae2dac_2_25"/>
            <p:cNvSpPr/>
            <p:nvPr/>
          </p:nvSpPr>
          <p:spPr>
            <a:xfrm>
              <a:off x="3307125" y="1789650"/>
              <a:ext cx="906600" cy="9066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8" name="Google Shape;618;g31ab2ae2dac_2_25"/>
            <p:cNvSpPr/>
            <p:nvPr/>
          </p:nvSpPr>
          <p:spPr>
            <a:xfrm>
              <a:off x="3383775" y="1866325"/>
              <a:ext cx="753300" cy="753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19" name="Google Shape;619;g31ab2ae2dac_2_25"/>
          <p:cNvSpPr txBox="1"/>
          <p:nvPr>
            <p:ph idx="4294967295" type="title"/>
          </p:nvPr>
        </p:nvSpPr>
        <p:spPr>
          <a:xfrm>
            <a:off x="808775" y="477200"/>
            <a:ext cx="9066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05</a:t>
            </a:r>
            <a:endParaRPr/>
          </a:p>
        </p:txBody>
      </p:sp>
      <p:sp>
        <p:nvSpPr>
          <p:cNvPr id="620" name="Google Shape;620;g31ab2ae2dac_2_25"/>
          <p:cNvSpPr txBox="1"/>
          <p:nvPr>
            <p:ph type="title"/>
          </p:nvPr>
        </p:nvSpPr>
        <p:spPr>
          <a:xfrm>
            <a:off x="1846950" y="403100"/>
            <a:ext cx="5124300" cy="67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Profit Analysis</a:t>
            </a:r>
            <a:endParaRPr sz="3000"/>
          </a:p>
        </p:txBody>
      </p:sp>
      <p:sp>
        <p:nvSpPr>
          <p:cNvPr id="621" name="Google Shape;621;g31ab2ae2dac_2_25"/>
          <p:cNvSpPr txBox="1"/>
          <p:nvPr/>
        </p:nvSpPr>
        <p:spPr>
          <a:xfrm>
            <a:off x="603162" y="2261475"/>
            <a:ext cx="2364000" cy="3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Revenue </a:t>
            </a:r>
            <a:endParaRPr b="1">
              <a:solidFill>
                <a:schemeClr val="dk1"/>
              </a:solidFill>
              <a:latin typeface="Karla"/>
              <a:ea typeface="Karla"/>
              <a:cs typeface="Karla"/>
              <a:sym typeface="Karl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Karla"/>
              <a:ea typeface="Karla"/>
              <a:cs typeface="Karla"/>
              <a:sym typeface="Karl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622" name="Google Shape;622;g31ab2ae2dac_2_25"/>
          <p:cNvSpPr txBox="1"/>
          <p:nvPr/>
        </p:nvSpPr>
        <p:spPr>
          <a:xfrm>
            <a:off x="3475525" y="2261475"/>
            <a:ext cx="2102100" cy="3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Costs</a:t>
            </a:r>
            <a:endParaRPr b="1">
              <a:solidFill>
                <a:schemeClr val="dk1"/>
              </a:solidFill>
              <a:latin typeface="Karla"/>
              <a:ea typeface="Karla"/>
              <a:cs typeface="Karla"/>
              <a:sym typeface="Karl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latin typeface="Karla"/>
              <a:ea typeface="Karla"/>
              <a:cs typeface="Karla"/>
              <a:sym typeface="Karl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623" name="Google Shape;623;g31ab2ae2dac_2_25"/>
          <p:cNvSpPr txBox="1"/>
          <p:nvPr/>
        </p:nvSpPr>
        <p:spPr>
          <a:xfrm>
            <a:off x="5956088" y="2292275"/>
            <a:ext cx="2682000" cy="3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Profits</a:t>
            </a:r>
            <a:endParaRPr b="1">
              <a:solidFill>
                <a:schemeClr val="dk1"/>
              </a:solidFill>
              <a:latin typeface="Karla"/>
              <a:ea typeface="Karla"/>
              <a:cs typeface="Karla"/>
              <a:sym typeface="Karl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Per Week</a:t>
            </a:r>
            <a:endParaRPr b="1">
              <a:solidFill>
                <a:schemeClr val="dk1"/>
              </a:solidFill>
              <a:latin typeface="Karla"/>
              <a:ea typeface="Karla"/>
              <a:cs typeface="Karla"/>
              <a:sym typeface="Karl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624" name="Google Shape;624;g31ab2ae2dac_2_25"/>
          <p:cNvSpPr txBox="1"/>
          <p:nvPr/>
        </p:nvSpPr>
        <p:spPr>
          <a:xfrm>
            <a:off x="759450" y="2804400"/>
            <a:ext cx="26820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Karla"/>
                <a:ea typeface="Karla"/>
                <a:cs typeface="Karla"/>
                <a:sym typeface="Karla"/>
              </a:rPr>
              <a:t>Price: 12$</a:t>
            </a:r>
            <a:endParaRPr>
              <a:latin typeface="Karla"/>
              <a:ea typeface="Karla"/>
              <a:cs typeface="Karla"/>
              <a:sym typeface="Karl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Karla"/>
                <a:ea typeface="Karla"/>
                <a:cs typeface="Karla"/>
                <a:sym typeface="Karla"/>
              </a:rPr>
              <a:t>WTP ranges: 9-12 and 12-15</a:t>
            </a:r>
            <a:endParaRPr>
              <a:latin typeface="Karla"/>
              <a:ea typeface="Karla"/>
              <a:cs typeface="Karla"/>
              <a:sym typeface="Karl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Karla"/>
                <a:ea typeface="Karla"/>
                <a:cs typeface="Karla"/>
                <a:sym typeface="Karla"/>
              </a:rPr>
              <a:t>Weekly Demand: 13,000</a:t>
            </a:r>
            <a:endParaRPr>
              <a:latin typeface="Karla"/>
              <a:ea typeface="Karla"/>
              <a:cs typeface="Karla"/>
              <a:sym typeface="Karl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Karla"/>
                <a:ea typeface="Karla"/>
                <a:cs typeface="Karla"/>
                <a:sym typeface="Karla"/>
              </a:rPr>
              <a:t>Target Segment: 9,000 (70%)</a:t>
            </a:r>
            <a:endParaRPr>
              <a:latin typeface="Karla"/>
              <a:ea typeface="Karla"/>
              <a:cs typeface="Karla"/>
              <a:sym typeface="Karl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Karla"/>
                <a:ea typeface="Karla"/>
                <a:cs typeface="Karla"/>
                <a:sym typeface="Karla"/>
              </a:rPr>
              <a:t>Adoption: 2,000 (24%)</a:t>
            </a:r>
            <a:endParaRPr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625" name="Google Shape;625;g31ab2ae2dac_2_25"/>
          <p:cNvSpPr txBox="1"/>
          <p:nvPr/>
        </p:nvSpPr>
        <p:spPr>
          <a:xfrm>
            <a:off x="3660875" y="2876275"/>
            <a:ext cx="24552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Karla"/>
                <a:ea typeface="Karla"/>
                <a:cs typeface="Karla"/>
                <a:sym typeface="Karla"/>
              </a:rPr>
              <a:t>Fixed Costs: 15,000$</a:t>
            </a:r>
            <a:endParaRPr>
              <a:latin typeface="Karla"/>
              <a:ea typeface="Karla"/>
              <a:cs typeface="Karla"/>
              <a:sym typeface="Karl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Karla"/>
                <a:ea typeface="Karla"/>
                <a:cs typeface="Karla"/>
                <a:sym typeface="Karla"/>
              </a:rPr>
              <a:t>Unit Costs (variable): 6$</a:t>
            </a:r>
            <a:endParaRPr>
              <a:latin typeface="Karla"/>
              <a:ea typeface="Karla"/>
              <a:cs typeface="Karla"/>
              <a:sym typeface="Karl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Karla"/>
                <a:ea typeface="Karla"/>
                <a:cs typeface="Karla"/>
                <a:sym typeface="Karla"/>
              </a:rPr>
              <a:t>Additional Costs: 3$</a:t>
            </a:r>
            <a:endParaRPr>
              <a:latin typeface="Karla"/>
              <a:ea typeface="Karla"/>
              <a:cs typeface="Karla"/>
              <a:sym typeface="Karl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Karla"/>
                <a:ea typeface="Karla"/>
                <a:cs typeface="Karla"/>
                <a:sym typeface="Karla"/>
              </a:rPr>
              <a:t>Margin: 20.0%</a:t>
            </a:r>
            <a:endParaRPr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626" name="Google Shape;626;g31ab2ae2dac_2_25"/>
          <p:cNvSpPr txBox="1"/>
          <p:nvPr/>
        </p:nvSpPr>
        <p:spPr>
          <a:xfrm>
            <a:off x="6062800" y="3127650"/>
            <a:ext cx="2622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Karla"/>
                <a:ea typeface="Karla"/>
                <a:cs typeface="Karla"/>
                <a:sym typeface="Karla"/>
              </a:rPr>
              <a:t>Revenue - Costs = $</a:t>
            </a:r>
            <a:r>
              <a:rPr b="1" lang="en">
                <a:latin typeface="Karla"/>
                <a:ea typeface="Karla"/>
                <a:cs typeface="Karla"/>
                <a:sym typeface="Karla"/>
              </a:rPr>
              <a:t>2,500 </a:t>
            </a:r>
            <a:r>
              <a:rPr lang="en">
                <a:latin typeface="Karla"/>
                <a:ea typeface="Karla"/>
                <a:cs typeface="Karla"/>
                <a:sym typeface="Karla"/>
              </a:rPr>
              <a:t>(24,000-21,500)</a:t>
            </a:r>
            <a:endParaRPr b="1">
              <a:latin typeface="Karla"/>
              <a:ea typeface="Karla"/>
              <a:cs typeface="Karla"/>
              <a:sym typeface="Karla"/>
            </a:endParaRPr>
          </a:p>
        </p:txBody>
      </p:sp>
      <p:pic>
        <p:nvPicPr>
          <p:cNvPr id="627" name="Google Shape;627;g31ab2ae2dac_2_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47200" y="1659775"/>
            <a:ext cx="675900" cy="563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28" name="Google Shape;628;g31ab2ae2dac_2_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18775" y="1633900"/>
            <a:ext cx="615601" cy="615599"/>
          </a:xfrm>
          <a:prstGeom prst="rect">
            <a:avLst/>
          </a:prstGeom>
          <a:noFill/>
          <a:ln>
            <a:noFill/>
          </a:ln>
        </p:spPr>
      </p:pic>
      <p:pic>
        <p:nvPicPr>
          <p:cNvPr id="629" name="Google Shape;629;g31ab2ae2dac_2_2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989300" y="1710250"/>
            <a:ext cx="615599" cy="6155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3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634;p11"/>
          <p:cNvSpPr/>
          <p:nvPr/>
        </p:nvSpPr>
        <p:spPr>
          <a:xfrm>
            <a:off x="-41150" y="1307225"/>
            <a:ext cx="9185100" cy="3818400"/>
          </a:xfrm>
          <a:prstGeom prst="rect">
            <a:avLst/>
          </a:prstGeom>
          <a:solidFill>
            <a:srgbClr val="F1EBE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635" name="Google Shape;635;p11"/>
          <p:cNvSpPr/>
          <p:nvPr/>
        </p:nvSpPr>
        <p:spPr>
          <a:xfrm>
            <a:off x="-41150" y="0"/>
            <a:ext cx="1371000" cy="5107800"/>
          </a:xfrm>
          <a:prstGeom prst="rect">
            <a:avLst/>
          </a:prstGeom>
          <a:solidFill>
            <a:srgbClr val="F1EBE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grpSp>
        <p:nvGrpSpPr>
          <p:cNvPr id="636" name="Google Shape;636;p11"/>
          <p:cNvGrpSpPr/>
          <p:nvPr/>
        </p:nvGrpSpPr>
        <p:grpSpPr>
          <a:xfrm>
            <a:off x="345875" y="244875"/>
            <a:ext cx="906600" cy="906600"/>
            <a:chOff x="3307125" y="1789650"/>
            <a:chExt cx="906600" cy="906600"/>
          </a:xfrm>
        </p:grpSpPr>
        <p:sp>
          <p:nvSpPr>
            <p:cNvPr id="637" name="Google Shape;637;p11"/>
            <p:cNvSpPr/>
            <p:nvPr/>
          </p:nvSpPr>
          <p:spPr>
            <a:xfrm>
              <a:off x="3307125" y="1789650"/>
              <a:ext cx="906600" cy="9066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8" name="Google Shape;638;p11"/>
            <p:cNvSpPr/>
            <p:nvPr/>
          </p:nvSpPr>
          <p:spPr>
            <a:xfrm>
              <a:off x="3383775" y="1866325"/>
              <a:ext cx="753300" cy="753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39" name="Google Shape;639;p11"/>
          <p:cNvSpPr txBox="1"/>
          <p:nvPr>
            <p:ph idx="4294967295" type="title"/>
          </p:nvPr>
        </p:nvSpPr>
        <p:spPr>
          <a:xfrm>
            <a:off x="345875" y="434325"/>
            <a:ext cx="9066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06</a:t>
            </a:r>
            <a:endParaRPr/>
          </a:p>
        </p:txBody>
      </p:sp>
      <p:sp>
        <p:nvSpPr>
          <p:cNvPr id="640" name="Google Shape;640;p11"/>
          <p:cNvSpPr txBox="1"/>
          <p:nvPr>
            <p:ph type="title"/>
          </p:nvPr>
        </p:nvSpPr>
        <p:spPr>
          <a:xfrm>
            <a:off x="1384050" y="360225"/>
            <a:ext cx="5332200" cy="67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Recommendations and Managerial Implications</a:t>
            </a:r>
            <a:endParaRPr sz="3000"/>
          </a:p>
        </p:txBody>
      </p:sp>
      <p:sp>
        <p:nvSpPr>
          <p:cNvPr id="641" name="Google Shape;641;p11"/>
          <p:cNvSpPr/>
          <p:nvPr/>
        </p:nvSpPr>
        <p:spPr>
          <a:xfrm>
            <a:off x="2605450" y="1520425"/>
            <a:ext cx="5928900" cy="30531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pic>
        <p:nvPicPr>
          <p:cNvPr id="642" name="Google Shape;642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41150" y="1834038"/>
            <a:ext cx="2432899" cy="2425874"/>
          </a:xfrm>
          <a:prstGeom prst="rect">
            <a:avLst/>
          </a:prstGeom>
          <a:noFill/>
          <a:ln>
            <a:noFill/>
          </a:ln>
        </p:spPr>
      </p:pic>
      <p:sp>
        <p:nvSpPr>
          <p:cNvPr id="643" name="Google Shape;643;p11"/>
          <p:cNvSpPr txBox="1"/>
          <p:nvPr/>
        </p:nvSpPr>
        <p:spPr>
          <a:xfrm>
            <a:off x="2713300" y="1750375"/>
            <a:ext cx="5713200" cy="25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u="sng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Pricing Strategy</a:t>
            </a:r>
            <a:endParaRPr sz="1500" u="sng">
              <a:solidFill>
                <a:schemeClr val="dk1"/>
              </a:solidFill>
              <a:latin typeface="Karla"/>
              <a:ea typeface="Karla"/>
              <a:cs typeface="Karla"/>
              <a:sym typeface="Karla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Karla"/>
              <a:buChar char="●"/>
            </a:pPr>
            <a:r>
              <a:rPr lang="en" sz="15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Willing to pay</a:t>
            </a:r>
            <a:r>
              <a:rPr b="1" lang="en" sz="15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 $3.5 more for fresh food</a:t>
            </a:r>
            <a:r>
              <a:rPr lang="en" sz="15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 over frozen meals</a:t>
            </a:r>
            <a:endParaRPr sz="1500">
              <a:solidFill>
                <a:schemeClr val="dk1"/>
              </a:solidFill>
              <a:latin typeface="Karla"/>
              <a:ea typeface="Karla"/>
              <a:cs typeface="Karla"/>
              <a:sym typeface="Karla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Karla"/>
              <a:buChar char="●"/>
            </a:pPr>
            <a:r>
              <a:rPr lang="en" sz="15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The</a:t>
            </a:r>
            <a:r>
              <a:rPr b="1" lang="en" sz="15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 seasonal products can be marked at $2 more</a:t>
            </a:r>
            <a:r>
              <a:rPr lang="en" sz="15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 than the regular products</a:t>
            </a:r>
            <a:endParaRPr sz="1500">
              <a:solidFill>
                <a:schemeClr val="dk1"/>
              </a:solidFill>
              <a:latin typeface="Karla"/>
              <a:ea typeface="Karla"/>
              <a:cs typeface="Karla"/>
              <a:sym typeface="Karl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Karla"/>
              <a:ea typeface="Karla"/>
              <a:cs typeface="Karla"/>
              <a:sym typeface="Karl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u="sng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Optimal Implementation Strategy</a:t>
            </a:r>
            <a:endParaRPr sz="1500" u="sng">
              <a:solidFill>
                <a:schemeClr val="dk1"/>
              </a:solidFill>
              <a:latin typeface="Karla"/>
              <a:ea typeface="Karla"/>
              <a:cs typeface="Karla"/>
              <a:sym typeface="Karla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Karla"/>
              <a:buChar char="●"/>
            </a:pPr>
            <a:r>
              <a:rPr lang="en" sz="15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Capacity: </a:t>
            </a:r>
            <a:r>
              <a:rPr b="1" lang="en" sz="15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500 units/week, Profit: $600/week</a:t>
            </a:r>
            <a:endParaRPr b="1" sz="1500">
              <a:solidFill>
                <a:schemeClr val="dk1"/>
              </a:solidFill>
              <a:latin typeface="Karla"/>
              <a:ea typeface="Karla"/>
              <a:cs typeface="Karla"/>
              <a:sym typeface="Karla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Karla"/>
              <a:buChar char="●"/>
            </a:pPr>
            <a:r>
              <a:rPr lang="en" sz="15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Will start with with JKP and JFF</a:t>
            </a:r>
            <a:endParaRPr sz="1500">
              <a:solidFill>
                <a:schemeClr val="dk1"/>
              </a:solidFill>
              <a:latin typeface="Karla"/>
              <a:ea typeface="Karla"/>
              <a:cs typeface="Karla"/>
              <a:sym typeface="Karla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Karla"/>
              <a:buChar char="●"/>
            </a:pPr>
            <a:r>
              <a:rPr lang="en" sz="15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Next, between HOH and BRI</a:t>
            </a:r>
            <a:endParaRPr sz="1500">
              <a:solidFill>
                <a:schemeClr val="dk1"/>
              </a:solidFill>
              <a:latin typeface="Karla"/>
              <a:ea typeface="Karla"/>
              <a:cs typeface="Karla"/>
              <a:sym typeface="Karla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Karla"/>
              <a:buChar char="●"/>
            </a:pPr>
            <a:r>
              <a:rPr lang="en" sz="15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As we start earning profits, we implement all across USC</a:t>
            </a:r>
            <a:endParaRPr sz="1500">
              <a:solidFill>
                <a:schemeClr val="dk1"/>
              </a:solidFill>
              <a:latin typeface="Karla"/>
              <a:ea typeface="Karla"/>
              <a:cs typeface="Karla"/>
              <a:sym typeface="Karla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7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Google Shape;648;p12"/>
          <p:cNvSpPr/>
          <p:nvPr/>
        </p:nvSpPr>
        <p:spPr>
          <a:xfrm>
            <a:off x="233600" y="1102275"/>
            <a:ext cx="3048900" cy="2852400"/>
          </a:xfrm>
          <a:prstGeom prst="ellipse">
            <a:avLst/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649" name="Google Shape;649;p12"/>
          <p:cNvSpPr txBox="1"/>
          <p:nvPr>
            <p:ph type="ctrTitle"/>
          </p:nvPr>
        </p:nvSpPr>
        <p:spPr>
          <a:xfrm>
            <a:off x="3326850" y="630425"/>
            <a:ext cx="4226100" cy="2614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" sz="5600">
                <a:solidFill>
                  <a:srgbClr val="6AA84F"/>
                </a:solidFill>
              </a:rPr>
              <a:t>Thank You!</a:t>
            </a:r>
            <a:r>
              <a:rPr lang="en" sz="5600">
                <a:solidFill>
                  <a:schemeClr val="accent1"/>
                </a:solidFill>
              </a:rPr>
              <a:t> </a:t>
            </a:r>
            <a:endParaRPr sz="5600">
              <a:solidFill>
                <a:schemeClr val="accent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t/>
            </a:r>
            <a:endParaRPr sz="2800">
              <a:solidFill>
                <a:schemeClr val="dk1"/>
              </a:solidFill>
            </a:endParaRPr>
          </a:p>
        </p:txBody>
      </p:sp>
      <p:sp>
        <p:nvSpPr>
          <p:cNvPr id="650" name="Google Shape;650;p12"/>
          <p:cNvSpPr txBox="1"/>
          <p:nvPr>
            <p:ph idx="1" type="subTitle"/>
          </p:nvPr>
        </p:nvSpPr>
        <p:spPr>
          <a:xfrm>
            <a:off x="3282500" y="3244625"/>
            <a:ext cx="5586900" cy="83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Group H: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Anna Natasha, Aaryavardhan Rathore, Donya Damavandi, Jay Maniyar, Samantha Sy, Yiwen Mei, Yuqing (Helen) Yang</a:t>
            </a:r>
            <a:endParaRPr/>
          </a:p>
        </p:txBody>
      </p:sp>
      <p:grpSp>
        <p:nvGrpSpPr>
          <p:cNvPr id="651" name="Google Shape;651;p12"/>
          <p:cNvGrpSpPr/>
          <p:nvPr/>
        </p:nvGrpSpPr>
        <p:grpSpPr>
          <a:xfrm>
            <a:off x="415312" y="630412"/>
            <a:ext cx="5" cy="257176"/>
            <a:chOff x="1247773" y="438149"/>
            <a:chExt cx="6" cy="342901"/>
          </a:xfrm>
        </p:grpSpPr>
        <p:cxnSp>
          <p:nvCxnSpPr>
            <p:cNvPr id="652" name="Google Shape;652;p12"/>
            <p:cNvCxnSpPr/>
            <p:nvPr/>
          </p:nvCxnSpPr>
          <p:spPr>
            <a:xfrm>
              <a:off x="1247775" y="438150"/>
              <a:ext cx="0" cy="342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53" name="Google Shape;653;p12"/>
            <p:cNvCxnSpPr/>
            <p:nvPr/>
          </p:nvCxnSpPr>
          <p:spPr>
            <a:xfrm>
              <a:off x="1247773" y="438195"/>
              <a:ext cx="0" cy="342805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54" name="Google Shape;654;p12"/>
            <p:cNvCxnSpPr/>
            <p:nvPr/>
          </p:nvCxnSpPr>
          <p:spPr>
            <a:xfrm rot="10800000">
              <a:off x="1247774" y="438149"/>
              <a:ext cx="0" cy="342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55" name="Google Shape;655;p12"/>
            <p:cNvCxnSpPr/>
            <p:nvPr/>
          </p:nvCxnSpPr>
          <p:spPr>
            <a:xfrm rot="10800000">
              <a:off x="1247779" y="438201"/>
              <a:ext cx="0" cy="342805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pic>
        <p:nvPicPr>
          <p:cNvPr id="656" name="Google Shape;656;p12"/>
          <p:cNvPicPr preferRelativeResize="0"/>
          <p:nvPr/>
        </p:nvPicPr>
        <p:blipFill rotWithShape="1">
          <a:blip r:embed="rId3">
            <a:alphaModFix/>
          </a:blip>
          <a:srcRect b="4697" l="9792" r="13271" t="0"/>
          <a:stretch/>
        </p:blipFill>
        <p:spPr>
          <a:xfrm>
            <a:off x="946925" y="222750"/>
            <a:ext cx="1622250" cy="4611451"/>
          </a:xfrm>
          <a:prstGeom prst="rect">
            <a:avLst/>
          </a:prstGeom>
          <a:noFill/>
          <a:ln>
            <a:noFill/>
          </a:ln>
        </p:spPr>
      </p:pic>
      <p:sp>
        <p:nvSpPr>
          <p:cNvPr id="657" name="Google Shape;657;p12"/>
          <p:cNvSpPr/>
          <p:nvPr/>
        </p:nvSpPr>
        <p:spPr>
          <a:xfrm>
            <a:off x="1219475" y="630400"/>
            <a:ext cx="1162800" cy="661200"/>
          </a:xfrm>
          <a:prstGeom prst="roundRect">
            <a:avLst>
              <a:gd fmla="val 16667" name="adj"/>
            </a:avLst>
          </a:prstGeom>
          <a:solidFill>
            <a:srgbClr val="FDE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Karla"/>
              <a:ea typeface="Karla"/>
              <a:cs typeface="Karla"/>
              <a:sym typeface="Karla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g31a917fecd2_0_9"/>
          <p:cNvSpPr txBox="1"/>
          <p:nvPr>
            <p:ph type="ctrTitle"/>
          </p:nvPr>
        </p:nvSpPr>
        <p:spPr>
          <a:xfrm>
            <a:off x="1042050" y="2062500"/>
            <a:ext cx="7059900" cy="101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Appendix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6" name="Shape 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Google Shape;667;g31a917fecd2_0_40"/>
          <p:cNvSpPr/>
          <p:nvPr/>
        </p:nvSpPr>
        <p:spPr>
          <a:xfrm>
            <a:off x="0" y="-31975"/>
            <a:ext cx="9144000" cy="5143500"/>
          </a:xfrm>
          <a:prstGeom prst="rect">
            <a:avLst/>
          </a:prstGeom>
          <a:solidFill>
            <a:srgbClr val="F1EBE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pic>
        <p:nvPicPr>
          <p:cNvPr id="668" name="Google Shape;668;g31a917fecd2_0_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77975" y="476788"/>
            <a:ext cx="7520649" cy="4189926"/>
          </a:xfrm>
          <a:prstGeom prst="rect">
            <a:avLst/>
          </a:prstGeom>
          <a:solidFill>
            <a:srgbClr val="F1EBE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2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Google Shape;673;g31a917fecd2_0_1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1EBE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graphicFrame>
        <p:nvGraphicFramePr>
          <p:cNvPr id="674" name="Google Shape;674;g31a917fecd2_0_14"/>
          <p:cNvGraphicFramePr/>
          <p:nvPr/>
        </p:nvGraphicFramePr>
        <p:xfrm>
          <a:off x="2176463" y="101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{9BB79891-C1E0-444F-8AAC-7BFD1D1877D0}</a:tableStyleId>
              </a:tblPr>
              <a:tblGrid>
                <a:gridCol w="1371600"/>
                <a:gridCol w="571500"/>
                <a:gridCol w="1114425"/>
                <a:gridCol w="1114425"/>
                <a:gridCol w="619125"/>
              </a:tblGrid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GRADS</a:t>
                      </a:r>
                      <a:endParaRPr b="1"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91425" marR="9525" marL="9525" anchor="b">
                    <a:lnL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Total</a:t>
                      </a:r>
                      <a:endParaRPr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91425" marR="9525" marL="9525" anchor="b">
                    <a:lnL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1-3 meals a week</a:t>
                      </a:r>
                      <a:endParaRPr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91425" marR="9525" marL="9525" anchor="b">
                    <a:lnL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1D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3+ meals a week</a:t>
                      </a:r>
                      <a:endParaRPr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91425" marR="9525" marL="9525" anchor="b">
                    <a:lnL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never</a:t>
                      </a:r>
                      <a:endParaRPr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91425" marR="9525" marL="9525" anchor="b">
                    <a:lnL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E9D9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Survey</a:t>
                      </a:r>
                      <a:endParaRPr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91425" marR="9525" marL="9525" anchor="b">
                    <a:lnL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91</a:t>
                      </a:r>
                      <a:endParaRPr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91425" marR="9525" marL="9525" anchor="b">
                    <a:lnL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57.00</a:t>
                      </a:r>
                      <a:endParaRPr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91425" marR="9525" marL="9525" anchor="b">
                    <a:lnL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1D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12.00</a:t>
                      </a:r>
                      <a:endParaRPr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91425" marR="9525" marL="9525" anchor="b">
                    <a:lnL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22.00</a:t>
                      </a:r>
                      <a:endParaRPr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91425" marR="9525" marL="9525" anchor="b">
                    <a:lnL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E9D9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Sample Proportion</a:t>
                      </a:r>
                      <a:endParaRPr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91425" marR="9525" marL="9525" anchor="b">
                    <a:lnL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endParaRPr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91425" marR="9525" marL="9525" anchor="b">
                    <a:lnL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0.63</a:t>
                      </a:r>
                      <a:endParaRPr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91425" marR="9525" marL="9525" anchor="b">
                    <a:lnL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1D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0.13</a:t>
                      </a:r>
                      <a:endParaRPr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91425" marR="9525" marL="9525" anchor="b">
                    <a:lnL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0.24</a:t>
                      </a:r>
                      <a:endParaRPr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91425" marR="9525" marL="9525" anchor="b">
                    <a:lnL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E9D9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Population</a:t>
                      </a:r>
                      <a:endParaRPr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91425" marR="9525" marL="9525" anchor="b">
                    <a:lnL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3200</a:t>
                      </a:r>
                      <a:endParaRPr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91425" marR="9525" marL="9525" anchor="b">
                    <a:lnL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2004.40</a:t>
                      </a:r>
                      <a:endParaRPr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91425" marR="9525" marL="9525" anchor="b">
                    <a:lnL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1D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421.98</a:t>
                      </a:r>
                      <a:endParaRPr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91425" marR="9525" marL="9525" anchor="b">
                    <a:lnL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773.63</a:t>
                      </a:r>
                      <a:endParaRPr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91425" marR="9525" marL="9525" anchor="b">
                    <a:lnL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E9D9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Avg Meals</a:t>
                      </a:r>
                      <a:endParaRPr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91425" marR="9525" marL="9525" anchor="b">
                    <a:lnL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endParaRPr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91425" marR="9525" marL="9525" anchor="b">
                    <a:lnL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2.00</a:t>
                      </a:r>
                      <a:endParaRPr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91425" marR="9525" marL="9525" anchor="b">
                    <a:lnL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1D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4.00</a:t>
                      </a:r>
                      <a:endParaRPr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91425" marR="9525" marL="9525" anchor="b">
                    <a:lnL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0.00</a:t>
                      </a:r>
                      <a:endParaRPr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91425" marR="9525" marL="9525" anchor="b">
                    <a:lnL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E9D9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Total meals</a:t>
                      </a:r>
                      <a:endParaRPr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91425" marR="9525" marL="9525" anchor="b">
                    <a:lnL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5696.7</a:t>
                      </a:r>
                      <a:endParaRPr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91425" marR="9525" marL="9525" anchor="b">
                    <a:lnL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4008.79</a:t>
                      </a:r>
                      <a:endParaRPr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91425" marR="9525" marL="9525" anchor="b">
                    <a:lnL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1D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1687.91</a:t>
                      </a:r>
                      <a:endParaRPr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91425" marR="9525" marL="9525" anchor="b">
                    <a:lnL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0.00</a:t>
                      </a:r>
                      <a:endParaRPr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91425" marR="9525" marL="9525" anchor="b">
                    <a:lnL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E9D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75" name="Google Shape;675;g31a917fecd2_0_14"/>
          <p:cNvGraphicFramePr/>
          <p:nvPr/>
        </p:nvGraphicFramePr>
        <p:xfrm>
          <a:off x="2176463" y="17640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{9BB79891-C1E0-444F-8AAC-7BFD1D1877D0}</a:tableStyleId>
              </a:tblPr>
              <a:tblGrid>
                <a:gridCol w="1390650"/>
                <a:gridCol w="571500"/>
                <a:gridCol w="1114425"/>
                <a:gridCol w="1076325"/>
                <a:gridCol w="638175"/>
              </a:tblGrid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UNDERGRADS</a:t>
                      </a:r>
                      <a:endParaRPr b="1"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91425" marR="9525" marL="9525" anchor="b">
                    <a:lnL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Total</a:t>
                      </a:r>
                      <a:endParaRPr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91425" marR="9525" marL="9525" anchor="b">
                    <a:lnL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1-3 meals a week</a:t>
                      </a:r>
                      <a:endParaRPr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91425" marR="9525" marL="9525" anchor="b">
                    <a:lnL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1D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3+ meals a week</a:t>
                      </a:r>
                      <a:endParaRPr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91425" marR="9525" marL="9525" anchor="b">
                    <a:lnL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never</a:t>
                      </a:r>
                      <a:endParaRPr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91425" marR="9525" marL="9525" anchor="b">
                    <a:lnL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E9D9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Survey</a:t>
                      </a:r>
                      <a:endParaRPr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91425" marR="9525" marL="9525" anchor="b">
                    <a:lnL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</a:t>
                      </a:r>
                      <a:endParaRPr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91425" marR="9525" marL="9525" anchor="b">
                    <a:lnL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6.00</a:t>
                      </a:r>
                      <a:endParaRPr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91425" marR="9525" marL="9525" anchor="b">
                    <a:lnL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1D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2.00</a:t>
                      </a:r>
                      <a:endParaRPr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91425" marR="9525" marL="9525" anchor="b">
                    <a:lnL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2.00</a:t>
                      </a:r>
                      <a:endParaRPr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91425" marR="9525" marL="9525" anchor="b">
                    <a:lnL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E9D9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Sample Proportion</a:t>
                      </a:r>
                      <a:endParaRPr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91425" marR="9525" marL="9525" anchor="b">
                    <a:lnL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endParaRPr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91425" marR="9525" marL="9525" anchor="b">
                    <a:lnL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0.60</a:t>
                      </a:r>
                      <a:endParaRPr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91425" marR="9525" marL="9525" anchor="b">
                    <a:lnL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1D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0.20</a:t>
                      </a:r>
                      <a:endParaRPr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91425" marR="9525" marL="9525" anchor="b">
                    <a:lnL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0.20</a:t>
                      </a:r>
                      <a:endParaRPr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91425" marR="9525" marL="9525" anchor="b">
                    <a:lnL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E9D9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Population</a:t>
                      </a:r>
                      <a:endParaRPr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91425" marR="9525" marL="9525" anchor="b">
                    <a:lnL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3200</a:t>
                      </a:r>
                      <a:endParaRPr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91425" marR="9525" marL="9525" anchor="b">
                    <a:lnL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1920.00</a:t>
                      </a:r>
                      <a:endParaRPr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91425" marR="9525" marL="9525" anchor="b">
                    <a:lnL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1D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640.00</a:t>
                      </a:r>
                      <a:endParaRPr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91425" marR="9525" marL="9525" anchor="b">
                    <a:lnL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640.00</a:t>
                      </a:r>
                      <a:endParaRPr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91425" marR="9525" marL="9525" anchor="b">
                    <a:lnL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E9D9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Avg Meals</a:t>
                      </a:r>
                      <a:endParaRPr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91425" marR="9525" marL="9525" anchor="b">
                    <a:lnL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endParaRPr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91425" marR="9525" marL="9525" anchor="b">
                    <a:lnL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2.00</a:t>
                      </a:r>
                      <a:endParaRPr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91425" marR="9525" marL="9525" anchor="b">
                    <a:lnL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1D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4.00</a:t>
                      </a:r>
                      <a:endParaRPr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91425" marR="9525" marL="9525" anchor="b">
                    <a:lnL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0.00</a:t>
                      </a:r>
                      <a:endParaRPr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91425" marR="9525" marL="9525" anchor="b">
                    <a:lnL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E9D9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Total meals</a:t>
                      </a:r>
                      <a:endParaRPr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91425" marR="9525" marL="9525" anchor="b">
                    <a:lnL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6400</a:t>
                      </a:r>
                      <a:endParaRPr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91425" marR="9525" marL="9525" anchor="b">
                    <a:lnL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3840.00</a:t>
                      </a:r>
                      <a:endParaRPr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91425" marR="9525" marL="9525" anchor="b">
                    <a:lnL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1D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2560.00</a:t>
                      </a:r>
                      <a:endParaRPr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91425" marR="9525" marL="9525" anchor="b">
                    <a:lnL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0.00</a:t>
                      </a:r>
                      <a:endParaRPr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91425" marR="9525" marL="9525" anchor="b">
                    <a:lnL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E9D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76" name="Google Shape;676;g31a917fecd2_0_14"/>
          <p:cNvGraphicFramePr/>
          <p:nvPr/>
        </p:nvGraphicFramePr>
        <p:xfrm>
          <a:off x="2176475" y="3427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{9BB79891-C1E0-444F-8AAC-7BFD1D1877D0}</a:tableStyleId>
              </a:tblPr>
              <a:tblGrid>
                <a:gridCol w="1390650"/>
                <a:gridCol w="571500"/>
                <a:gridCol w="1114425"/>
                <a:gridCol w="1076325"/>
                <a:gridCol w="638175"/>
              </a:tblGrid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Faculty/Staff</a:t>
                      </a:r>
                      <a:endParaRPr b="1"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91425" marR="9525" marL="9525" anchor="b">
                    <a:lnL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Total</a:t>
                      </a:r>
                      <a:endParaRPr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91425" marR="9525" marL="9525" anchor="b">
                    <a:lnL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1-3 meals a week</a:t>
                      </a:r>
                      <a:endParaRPr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91425" marR="9525" marL="9525" anchor="b">
                    <a:lnL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1D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3+ meals a week</a:t>
                      </a:r>
                      <a:endParaRPr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91425" marR="9525" marL="9525" anchor="b">
                    <a:lnL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never</a:t>
                      </a:r>
                      <a:endParaRPr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91425" marR="9525" marL="9525" anchor="b">
                    <a:lnL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E9D9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Survey</a:t>
                      </a:r>
                      <a:endParaRPr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91425" marR="9525" marL="9525" anchor="b">
                    <a:lnL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</a:t>
                      </a:r>
                      <a:endParaRPr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91425" marR="9525" marL="9525" anchor="b">
                    <a:lnL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7.00</a:t>
                      </a:r>
                      <a:endParaRPr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91425" marR="9525" marL="9525" anchor="b">
                    <a:lnL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1D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2.00</a:t>
                      </a:r>
                      <a:endParaRPr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91425" marR="9525" marL="9525" anchor="b">
                    <a:lnL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1.00</a:t>
                      </a:r>
                      <a:endParaRPr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91425" marR="9525" marL="9525" anchor="b">
                    <a:lnL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E9D9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Sample Proportion</a:t>
                      </a:r>
                      <a:endParaRPr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91425" marR="9525" marL="9525" anchor="b">
                    <a:lnL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endParaRPr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91425" marR="9525" marL="9525" anchor="b">
                    <a:lnL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0.70</a:t>
                      </a:r>
                      <a:endParaRPr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91425" marR="9525" marL="9525" anchor="b">
                    <a:lnL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1D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0.20</a:t>
                      </a:r>
                      <a:endParaRPr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91425" marR="9525" marL="9525" anchor="b">
                    <a:lnL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0.10</a:t>
                      </a:r>
                      <a:endParaRPr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91425" marR="9525" marL="9525" anchor="b">
                    <a:lnL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E9D9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Population</a:t>
                      </a:r>
                      <a:endParaRPr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91425" marR="9525" marL="9525" anchor="b">
                    <a:lnL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400</a:t>
                      </a:r>
                      <a:endParaRPr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91425" marR="9525" marL="9525" anchor="b">
                    <a:lnL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280.00</a:t>
                      </a:r>
                      <a:endParaRPr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91425" marR="9525" marL="9525" anchor="b">
                    <a:lnL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1D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80.00</a:t>
                      </a:r>
                      <a:endParaRPr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91425" marR="9525" marL="9525" anchor="b">
                    <a:lnL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40.00</a:t>
                      </a:r>
                      <a:endParaRPr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91425" marR="9525" marL="9525" anchor="b">
                    <a:lnL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E9D9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Avg Meals</a:t>
                      </a:r>
                      <a:endParaRPr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91425" marR="9525" marL="9525" anchor="b">
                    <a:lnL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endParaRPr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91425" marR="9525" marL="9525" anchor="b">
                    <a:lnL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2.00</a:t>
                      </a:r>
                      <a:endParaRPr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91425" marR="9525" marL="9525" anchor="b">
                    <a:lnL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1D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4.00</a:t>
                      </a:r>
                      <a:endParaRPr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91425" marR="9525" marL="9525" anchor="b">
                    <a:lnL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0.00</a:t>
                      </a:r>
                      <a:endParaRPr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91425" marR="9525" marL="9525" anchor="b">
                    <a:lnL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E9D9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Total meals</a:t>
                      </a:r>
                      <a:endParaRPr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91425" marR="9525" marL="9525" anchor="b">
                    <a:lnL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880</a:t>
                      </a:r>
                      <a:endParaRPr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91425" marR="9525" marL="9525" anchor="b">
                    <a:lnL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560.00</a:t>
                      </a:r>
                      <a:endParaRPr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91425" marR="9525" marL="9525" anchor="b">
                    <a:lnL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1D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320.00</a:t>
                      </a:r>
                      <a:endParaRPr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91425" marR="9525" marL="9525" anchor="b">
                    <a:lnL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0.00</a:t>
                      </a:r>
                      <a:endParaRPr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91425" marR="9525" marL="9525" anchor="b">
                    <a:lnL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E9D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0" name="Shape 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g31b72a673d9_0_17"/>
          <p:cNvSpPr/>
          <p:nvPr/>
        </p:nvSpPr>
        <p:spPr>
          <a:xfrm>
            <a:off x="0" y="-31975"/>
            <a:ext cx="9144000" cy="5143500"/>
          </a:xfrm>
          <a:prstGeom prst="rect">
            <a:avLst/>
          </a:prstGeom>
          <a:solidFill>
            <a:srgbClr val="F1EBE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682" name="Google Shape;682;g31b72a673d9_0_17"/>
          <p:cNvSpPr/>
          <p:nvPr/>
        </p:nvSpPr>
        <p:spPr>
          <a:xfrm>
            <a:off x="654475" y="1303113"/>
            <a:ext cx="2251200" cy="25890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683" name="Google Shape;683;g31b72a673d9_0_17"/>
          <p:cNvSpPr txBox="1"/>
          <p:nvPr/>
        </p:nvSpPr>
        <p:spPr>
          <a:xfrm>
            <a:off x="796100" y="1355813"/>
            <a:ext cx="1712400" cy="8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u="sng">
                <a:latin typeface="Karla"/>
                <a:ea typeface="Karla"/>
                <a:cs typeface="Karla"/>
                <a:sym typeface="Karla"/>
              </a:rPr>
              <a:t>Utility Range for Price</a:t>
            </a:r>
            <a:endParaRPr sz="1000">
              <a:latin typeface="Karla"/>
              <a:ea typeface="Karla"/>
              <a:cs typeface="Karla"/>
              <a:sym typeface="Karl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Karla"/>
                <a:ea typeface="Karla"/>
                <a:cs typeface="Karla"/>
                <a:sym typeface="Karla"/>
              </a:rPr>
              <a:t>Utility for $9: 70.11</a:t>
            </a:r>
            <a:endParaRPr sz="1000">
              <a:latin typeface="Karla"/>
              <a:ea typeface="Karla"/>
              <a:cs typeface="Karla"/>
              <a:sym typeface="Karl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Karla"/>
                <a:ea typeface="Karla"/>
                <a:cs typeface="Karla"/>
                <a:sym typeface="Karla"/>
              </a:rPr>
              <a:t>Utility for $12: 23.91</a:t>
            </a:r>
            <a:endParaRPr sz="1000">
              <a:latin typeface="Karla"/>
              <a:ea typeface="Karla"/>
              <a:cs typeface="Karla"/>
              <a:sym typeface="Karl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Karla"/>
                <a:ea typeface="Karla"/>
                <a:cs typeface="Karla"/>
                <a:sym typeface="Karla"/>
              </a:rPr>
              <a:t>Utility for $15: -94.02</a:t>
            </a:r>
            <a:endParaRPr sz="1200"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684" name="Google Shape;684;g31b72a673d9_0_17"/>
          <p:cNvSpPr txBox="1"/>
          <p:nvPr>
            <p:ph idx="4294967295" type="ctrTitle"/>
          </p:nvPr>
        </p:nvSpPr>
        <p:spPr>
          <a:xfrm>
            <a:off x="941950" y="82600"/>
            <a:ext cx="7059900" cy="1018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Computation for WTP</a:t>
            </a:r>
            <a:endParaRPr/>
          </a:p>
        </p:txBody>
      </p:sp>
      <p:sp>
        <p:nvSpPr>
          <p:cNvPr id="685" name="Google Shape;685;g31b72a673d9_0_17"/>
          <p:cNvSpPr/>
          <p:nvPr/>
        </p:nvSpPr>
        <p:spPr>
          <a:xfrm>
            <a:off x="2077300" y="233800"/>
            <a:ext cx="4789200" cy="7161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686" name="Google Shape;686;g31b72a673d9_0_17"/>
          <p:cNvSpPr txBox="1"/>
          <p:nvPr/>
        </p:nvSpPr>
        <p:spPr>
          <a:xfrm>
            <a:off x="3324750" y="949888"/>
            <a:ext cx="5918100" cy="210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latin typeface="Karla"/>
                <a:ea typeface="Karla"/>
                <a:cs typeface="Karla"/>
                <a:sym typeface="Karla"/>
              </a:rPr>
              <a:t>1. Fresh vs. Frozen</a:t>
            </a:r>
            <a:endParaRPr b="1" sz="1000">
              <a:latin typeface="Karla"/>
              <a:ea typeface="Karla"/>
              <a:cs typeface="Karla"/>
              <a:sym typeface="Karl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Karla"/>
                <a:ea typeface="Karla"/>
                <a:cs typeface="Karla"/>
                <a:sym typeface="Karla"/>
              </a:rPr>
              <a:t>Utility difference = U(Fresh) - U(Frozen) = 53.01−(−53.01)=106.02utils</a:t>
            </a:r>
            <a:endParaRPr sz="1000">
              <a:latin typeface="Karla"/>
              <a:ea typeface="Karla"/>
              <a:cs typeface="Karla"/>
              <a:sym typeface="Karl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Karla"/>
                <a:ea typeface="Karla"/>
                <a:cs typeface="Karla"/>
                <a:sym typeface="Karla"/>
              </a:rPr>
              <a:t>WTP = Utility difference * Price per Utility Unit</a:t>
            </a:r>
            <a:endParaRPr sz="1000">
              <a:latin typeface="Karla"/>
              <a:ea typeface="Karla"/>
              <a:cs typeface="Karla"/>
              <a:sym typeface="Karl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Karla"/>
                <a:ea typeface="Karla"/>
                <a:cs typeface="Karla"/>
                <a:sym typeface="Karla"/>
              </a:rPr>
              <a:t>WTP = 106.02×0.03655=3.87dollars</a:t>
            </a:r>
            <a:endParaRPr sz="1000">
              <a:latin typeface="Karla"/>
              <a:ea typeface="Karla"/>
              <a:cs typeface="Karla"/>
              <a:sym typeface="Karl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38761D"/>
                </a:solidFill>
                <a:latin typeface="Karla"/>
                <a:ea typeface="Karla"/>
                <a:cs typeface="Karla"/>
                <a:sym typeface="Karla"/>
              </a:rPr>
              <a:t>Customers are willing to pay $3.87 more for Fresh over Frozen.</a:t>
            </a:r>
            <a:endParaRPr b="1" sz="1000">
              <a:solidFill>
                <a:srgbClr val="38761D"/>
              </a:solidFill>
              <a:latin typeface="Karla"/>
              <a:ea typeface="Karla"/>
              <a:cs typeface="Karla"/>
              <a:sym typeface="Karl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Karla"/>
                <a:ea typeface="Karla"/>
                <a:cs typeface="Karla"/>
                <a:sym typeface="Karla"/>
              </a:rPr>
              <a:t> </a:t>
            </a:r>
            <a:endParaRPr sz="1000">
              <a:latin typeface="Karla"/>
              <a:ea typeface="Karla"/>
              <a:cs typeface="Karla"/>
              <a:sym typeface="Karl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latin typeface="Karla"/>
                <a:ea typeface="Karla"/>
                <a:cs typeface="Karla"/>
                <a:sym typeface="Karla"/>
              </a:rPr>
              <a:t>2. Vegan/Vegetarian Dish (Yes vs. No)</a:t>
            </a:r>
            <a:endParaRPr b="1" sz="1000">
              <a:latin typeface="Karla"/>
              <a:ea typeface="Karla"/>
              <a:cs typeface="Karla"/>
              <a:sym typeface="Karl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Karla"/>
                <a:ea typeface="Karla"/>
                <a:cs typeface="Karla"/>
                <a:sym typeface="Karla"/>
              </a:rPr>
              <a:t>Utility difference = U(Yes) - U(No) = 0.35−(−0.35)=0.70utils</a:t>
            </a:r>
            <a:endParaRPr sz="1000">
              <a:latin typeface="Karla"/>
              <a:ea typeface="Karla"/>
              <a:cs typeface="Karla"/>
              <a:sym typeface="Karl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Karla"/>
                <a:ea typeface="Karla"/>
                <a:cs typeface="Karla"/>
                <a:sym typeface="Karla"/>
              </a:rPr>
              <a:t>WTP = Utility difference * Price per Utility Unit</a:t>
            </a:r>
            <a:endParaRPr sz="1000">
              <a:latin typeface="Karla"/>
              <a:ea typeface="Karla"/>
              <a:cs typeface="Karla"/>
              <a:sym typeface="Karl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Karla"/>
                <a:ea typeface="Karla"/>
                <a:cs typeface="Karla"/>
                <a:sym typeface="Karla"/>
              </a:rPr>
              <a:t>WTP = 0.70×0.03655=0.03dollars</a:t>
            </a:r>
            <a:endParaRPr sz="1000">
              <a:latin typeface="Karla"/>
              <a:ea typeface="Karla"/>
              <a:cs typeface="Karla"/>
              <a:sym typeface="Karl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Karla"/>
                <a:ea typeface="Karla"/>
                <a:cs typeface="Karla"/>
                <a:sym typeface="Karla"/>
              </a:rPr>
              <a:t>Customers are willing to pay $0.03 more for a Vegan/Vegetarian Dish.</a:t>
            </a:r>
            <a:endParaRPr sz="1000"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687" name="Google Shape;687;g31b72a673d9_0_17"/>
          <p:cNvSpPr txBox="1"/>
          <p:nvPr/>
        </p:nvSpPr>
        <p:spPr>
          <a:xfrm>
            <a:off x="3324750" y="2941363"/>
            <a:ext cx="6800700" cy="23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latin typeface="Karla"/>
                <a:ea typeface="Karla"/>
                <a:cs typeface="Karla"/>
                <a:sym typeface="Karla"/>
              </a:rPr>
              <a:t>3. Rotating Menu (Yes vs. No)</a:t>
            </a:r>
            <a:endParaRPr b="1" sz="1000">
              <a:latin typeface="Karla"/>
              <a:ea typeface="Karla"/>
              <a:cs typeface="Karla"/>
              <a:sym typeface="Karl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Karla"/>
                <a:ea typeface="Karla"/>
                <a:cs typeface="Karla"/>
                <a:sym typeface="Karla"/>
              </a:rPr>
              <a:t>Utility difference = U(Yes) - U(No) = 26.07−(−26.07)=52.14utils</a:t>
            </a:r>
            <a:endParaRPr sz="1000">
              <a:latin typeface="Karla"/>
              <a:ea typeface="Karla"/>
              <a:cs typeface="Karla"/>
              <a:sym typeface="Karl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Karla"/>
                <a:ea typeface="Karla"/>
                <a:cs typeface="Karla"/>
                <a:sym typeface="Karla"/>
              </a:rPr>
              <a:t>WTP = Utility difference * Price per Utility Unit</a:t>
            </a:r>
            <a:endParaRPr sz="1000">
              <a:latin typeface="Karla"/>
              <a:ea typeface="Karla"/>
              <a:cs typeface="Karla"/>
              <a:sym typeface="Karl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Karla"/>
                <a:ea typeface="Karla"/>
                <a:cs typeface="Karla"/>
                <a:sym typeface="Karla"/>
              </a:rPr>
              <a:t>WTP = 52.14×0.03655=1.91dollars</a:t>
            </a:r>
            <a:endParaRPr sz="1000">
              <a:latin typeface="Karla"/>
              <a:ea typeface="Karla"/>
              <a:cs typeface="Karla"/>
              <a:sym typeface="Karl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latin typeface="Karla"/>
                <a:ea typeface="Karla"/>
                <a:cs typeface="Karla"/>
                <a:sym typeface="Karla"/>
              </a:rPr>
              <a:t>Customers are willing to pay $1.91 more for a Rotating Menu.</a:t>
            </a:r>
            <a:endParaRPr b="1" sz="1000">
              <a:latin typeface="Karla"/>
              <a:ea typeface="Karla"/>
              <a:cs typeface="Karla"/>
              <a:sym typeface="Karl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Karla"/>
                <a:ea typeface="Karla"/>
                <a:cs typeface="Karla"/>
                <a:sym typeface="Karla"/>
              </a:rPr>
              <a:t> </a:t>
            </a:r>
            <a:endParaRPr sz="1000">
              <a:latin typeface="Karla"/>
              <a:ea typeface="Karla"/>
              <a:cs typeface="Karla"/>
              <a:sym typeface="Karl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latin typeface="Karla"/>
                <a:ea typeface="Karla"/>
                <a:cs typeface="Karla"/>
                <a:sym typeface="Karla"/>
              </a:rPr>
              <a:t>4. Portion Size (Large vs. Medium)</a:t>
            </a:r>
            <a:endParaRPr b="1" sz="1000">
              <a:latin typeface="Karla"/>
              <a:ea typeface="Karla"/>
              <a:cs typeface="Karla"/>
              <a:sym typeface="Karl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Karla"/>
                <a:ea typeface="Karla"/>
                <a:cs typeface="Karla"/>
                <a:sym typeface="Karla"/>
              </a:rPr>
              <a:t>Utility difference = U(Large) - U(Medium) = 2.25−(−2.25)=4.50utils</a:t>
            </a:r>
            <a:endParaRPr sz="1000">
              <a:latin typeface="Karla"/>
              <a:ea typeface="Karla"/>
              <a:cs typeface="Karla"/>
              <a:sym typeface="Karl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Karla"/>
                <a:ea typeface="Karla"/>
                <a:cs typeface="Karla"/>
                <a:sym typeface="Karla"/>
              </a:rPr>
              <a:t>WTP = Utility difference * Price per Utility Unit</a:t>
            </a:r>
            <a:endParaRPr sz="1000">
              <a:latin typeface="Karla"/>
              <a:ea typeface="Karla"/>
              <a:cs typeface="Karla"/>
              <a:sym typeface="Karl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Karla"/>
                <a:ea typeface="Karla"/>
                <a:cs typeface="Karla"/>
                <a:sym typeface="Karla"/>
              </a:rPr>
              <a:t>WTP = 4.50×0.03655=0.16dollars</a:t>
            </a:r>
            <a:endParaRPr sz="1000">
              <a:latin typeface="Karla"/>
              <a:ea typeface="Karla"/>
              <a:cs typeface="Karla"/>
              <a:sym typeface="Karl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latin typeface="Karla"/>
                <a:ea typeface="Karla"/>
                <a:cs typeface="Karla"/>
                <a:sym typeface="Karla"/>
              </a:rPr>
              <a:t>Customers are willing to pay $0.16 more for a Large Portion over Medium.</a:t>
            </a:r>
            <a:endParaRPr b="1" sz="1000">
              <a:latin typeface="Karla"/>
              <a:ea typeface="Karla"/>
              <a:cs typeface="Karla"/>
              <a:sym typeface="Karl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688" name="Google Shape;688;g31b72a673d9_0_17"/>
          <p:cNvSpPr txBox="1"/>
          <p:nvPr/>
        </p:nvSpPr>
        <p:spPr>
          <a:xfrm>
            <a:off x="680575" y="2178088"/>
            <a:ext cx="2199000" cy="17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Karla"/>
                <a:ea typeface="Karla"/>
                <a:cs typeface="Karla"/>
                <a:sym typeface="Karla"/>
              </a:rPr>
              <a:t>Utility Range = U($9) - U($15) = 70.11- (-94.02) = 164.13 utils</a:t>
            </a:r>
            <a:endParaRPr sz="1000">
              <a:latin typeface="Karla"/>
              <a:ea typeface="Karla"/>
              <a:cs typeface="Karla"/>
              <a:sym typeface="Karl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Karla"/>
                <a:ea typeface="Karla"/>
                <a:cs typeface="Karla"/>
                <a:sym typeface="Karla"/>
              </a:rPr>
              <a:t>Price Range = $15 - $9 = 6 dollars</a:t>
            </a:r>
            <a:endParaRPr sz="1000">
              <a:latin typeface="Karla"/>
              <a:ea typeface="Karla"/>
              <a:cs typeface="Karla"/>
              <a:sym typeface="Karl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Karla"/>
                <a:ea typeface="Karla"/>
                <a:cs typeface="Karla"/>
                <a:sym typeface="Karla"/>
              </a:rPr>
              <a:t> </a:t>
            </a:r>
            <a:endParaRPr sz="1000">
              <a:latin typeface="Karla"/>
              <a:ea typeface="Karla"/>
              <a:cs typeface="Karla"/>
              <a:sym typeface="Karl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Karla"/>
                <a:ea typeface="Karla"/>
                <a:cs typeface="Karla"/>
                <a:sym typeface="Karla"/>
              </a:rPr>
              <a:t>Price per Utility Unit = </a:t>
            </a:r>
            <a:endParaRPr sz="1000">
              <a:latin typeface="Karla"/>
              <a:ea typeface="Karla"/>
              <a:cs typeface="Karla"/>
              <a:sym typeface="Karl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Karla"/>
                <a:ea typeface="Karla"/>
                <a:cs typeface="Karla"/>
                <a:sym typeface="Karla"/>
              </a:rPr>
              <a:t>Price Range / Utility Range = </a:t>
            </a:r>
            <a:endParaRPr sz="1000">
              <a:latin typeface="Karla"/>
              <a:ea typeface="Karla"/>
              <a:cs typeface="Karla"/>
              <a:sym typeface="Karl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Karla"/>
                <a:ea typeface="Karla"/>
                <a:cs typeface="Karla"/>
                <a:sym typeface="Karla"/>
              </a:rPr>
              <a:t>6 / 164.13 = 0.03655 dollars per util 0.02789 dollarsper util</a:t>
            </a:r>
            <a:endParaRPr sz="1200">
              <a:latin typeface="Karla"/>
              <a:ea typeface="Karla"/>
              <a:cs typeface="Karla"/>
              <a:sym typeface="Karl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 u="sng">
              <a:latin typeface="Karla"/>
              <a:ea typeface="Karla"/>
              <a:cs typeface="Karla"/>
              <a:sym typeface="Karla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2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Google Shape;693;g31b72a673d9_0_32"/>
          <p:cNvSpPr/>
          <p:nvPr/>
        </p:nvSpPr>
        <p:spPr>
          <a:xfrm>
            <a:off x="0" y="-31975"/>
            <a:ext cx="9144000" cy="5143500"/>
          </a:xfrm>
          <a:prstGeom prst="rect">
            <a:avLst/>
          </a:prstGeom>
          <a:solidFill>
            <a:srgbClr val="F1EBE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Karla"/>
              <a:ea typeface="Karla"/>
              <a:cs typeface="Karla"/>
              <a:sym typeface="Karla"/>
            </a:endParaRPr>
          </a:p>
        </p:txBody>
      </p:sp>
      <p:pic>
        <p:nvPicPr>
          <p:cNvPr id="694" name="Google Shape;694;g31b72a673d9_0_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4563" y="419974"/>
            <a:ext cx="7274873" cy="423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Food Delivery Service Company Profile by Slidesgo">
  <a:themeElements>
    <a:clrScheme name="Simple Light">
      <a:dk1>
        <a:srgbClr val="1E1D1D"/>
      </a:dk1>
      <a:lt1>
        <a:srgbClr val="FFFFFF"/>
      </a:lt1>
      <a:dk2>
        <a:srgbClr val="F1EBE4"/>
      </a:dk2>
      <a:lt2>
        <a:srgbClr val="F5DFC7"/>
      </a:lt2>
      <a:accent1>
        <a:srgbClr val="D1490E"/>
      </a:accent1>
      <a:accent2>
        <a:srgbClr val="DEB191"/>
      </a:accent2>
      <a:accent3>
        <a:srgbClr val="A06341"/>
      </a:accent3>
      <a:accent4>
        <a:srgbClr val="FFFFFF"/>
      </a:accent4>
      <a:accent5>
        <a:srgbClr val="FFFFFF"/>
      </a:accent5>
      <a:accent6>
        <a:srgbClr val="FFFFFF"/>
      </a:accent6>
      <a:hlink>
        <a:srgbClr val="D1490E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